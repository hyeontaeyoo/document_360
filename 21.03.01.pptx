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58" r:id="rId5"/>
    <p:sldId id="274" r:id="rId6"/>
    <p:sldId id="264" r:id="rId7"/>
    <p:sldId id="275" r:id="rId8"/>
    <p:sldId id="277" r:id="rId9"/>
    <p:sldId id="276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ACBA0-73FD-4996-86D4-DFD0024202EF}" type="datetimeFigureOut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215E5-7C78-4C39-9565-0FE16386B5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91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CEECF-4CC9-4106-A58A-438024EAF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A2387-036A-47AE-BA27-5593F03F3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67DB3-0F9C-4C05-B2C6-F9160F29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689D-AA60-4679-BFD8-B9740D537426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D8D1B-97B5-4145-B833-66C2D497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F8ECF-FE29-411B-8FDD-FBB5AA33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2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25FEA-C456-46E0-B9EA-F44721B0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F7F577-B8DA-4566-AD66-4860D1D5B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FC2A5-E67E-4AF7-B786-2A8F962E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3B00B-6FBF-42CC-87B2-635E41B2A29B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3DCC4-CCB8-4FE1-A315-EF1C5B17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0DAB8E-5003-494C-91AC-7DA9C659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60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FF013-0E71-463A-9948-17E313B7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ED935F-CA14-401D-8776-D3F9EC326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8F268-D0D3-41F7-846A-343D1AA5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C539-B595-43D1-AF72-4F60DC096ED0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DC72F7-64EC-4C73-B7DF-8E64080C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F61C5-0DE3-4CD2-8395-243FF1BF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14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81033-5BF4-4949-BFBF-42B0B685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F4607-CD99-4DC0-AFD1-00C4CBCA0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1262B0-344A-42B6-BC13-766503A9E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D8CD7A-1E83-45CA-B10E-77226BA5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2CDB3-288B-478B-B0A5-28801766C2C6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6BD291-7339-43B1-ADF6-D8BE5F73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DB81E-F45B-4148-BF0F-351EEB92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581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A54AC-39A1-4B37-AA37-E0601999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3BAE9-B488-48CE-92FA-61D941872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1534D5-1A68-44C1-9B97-6E696EB0B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4709C7-A4D0-4FF3-AAB0-192B5D992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117638-B7F9-4993-AF9C-92E11AF82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7417F2-9B29-419C-9DE3-BC0C3F66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DB40-CAFC-4CFC-B083-24B0C7A35D83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E0D20A-08C0-4473-84A1-7FB0429C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D3CC1E-4850-449A-93E1-DD99ED98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40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7021A-72D8-4246-9368-6A917DAB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264467-EED3-4C80-8304-43A18952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626A-30D2-4EF8-ADE1-1ECD0E47896F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C4E905-9033-40B6-8743-64BEF126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0468AD-0828-49B8-9742-149658B6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27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639E55-B4EC-49FE-9993-B1B4F646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0233-9FD0-41D8-AE84-36AF7CA5E30C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663389-B5C8-4B68-B132-697BE410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83C2B-9335-4D44-A6A1-FDD3A4D3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7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BDA23-696A-4BCA-AE5D-9DAD2096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A27AA8-3BEE-4103-8B7A-BF492CD8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E87847-18FC-470A-86F0-9DB3B2FC3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25E1F2-59AC-4423-9513-E38DB7AE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9979-B123-4EDB-AF1B-99500788A365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D6A348-76E5-4D8B-AEFF-1B953D7A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C63F23-9753-467A-A6F0-8122C7E1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1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6952E-1D8B-4A6B-A47B-7B4178BC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64B43F-3C49-429F-A094-E38889DA1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032538-F853-4574-9234-A17CFFF5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231665-845B-42C1-96DF-3119D489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971A-1C57-42C7-B7B3-2D152240BC7C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C5FD38-AE1D-4410-BC69-E8D6F577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88F7C-C713-422B-96BC-13B894EF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57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7C178-1900-4BB6-9A01-8E4461D0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E247D9-F394-4B91-865D-08662BBB8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6DC73-F488-4B6E-9435-7D9E10BB4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5164A-4F3C-4AFC-B8F0-BE48D390257B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B06B4C-F4AD-43EA-ADC5-0E298188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74663-B79F-47B5-A87D-03CBEB96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40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FDDF54-8C12-4090-9A4F-83C39185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434D71-23C3-46D2-B3A3-095A586F5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380FD-6FF2-4A2B-B589-B71EA36D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D5DD-F60D-4729-A93F-84C92861CF60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DB0E15-B2FE-4DC1-B5B1-ECD82384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FAAA01-A51D-46A4-AE89-F82CE223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AD24E7-CF2B-47C1-9F54-D9CC9533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1570F0-18BF-494B-AC17-0971C922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57337-3A5B-4E95-87D9-22E02D248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6533F-7A90-4F19-A9C0-5A16BA7CEA66}" type="datetime1">
              <a:rPr lang="ko-KR" altLang="en-US" smtClean="0"/>
              <a:t>2021-02-26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3B4649-7419-4BD2-93F3-59E01EB76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EA1DED-97C1-47DA-A7DC-84CD1C3DE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81400" y="63620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/>
                </a:solidFill>
              </a:defRPr>
            </a:lvl1pPr>
          </a:lstStyle>
          <a:p>
            <a:fld id="{C2F76231-C5AF-4BC2-BA49-CA80A566BAED}" type="slidenum">
              <a:rPr lang="ko-KR" altLang="en-US" smtClean="0"/>
              <a:pPr/>
              <a:t>‹#›</a:t>
            </a:fld>
            <a:endParaRPr lang="ko-KR" altLang="en-US" sz="15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FA9A9A-FF4E-4417-B2F1-9260F94E53A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175429" y="5810740"/>
            <a:ext cx="952202" cy="10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5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34A28-423A-4A8E-8DE5-A231E6E036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360</a:t>
            </a:r>
            <a:r>
              <a:rPr lang="ko-KR" altLang="en-US" dirty="0"/>
              <a:t> 영상으로 부터의</a:t>
            </a:r>
            <a:br>
              <a:rPr lang="en-US" altLang="ko-KR" dirty="0"/>
            </a:br>
            <a:r>
              <a:rPr lang="ko-KR" altLang="en-US" dirty="0"/>
              <a:t>얼굴 인식 및 화자 추적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25E066-90C4-4904-B89A-4ECFB20AB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650387"/>
          </a:xfrm>
        </p:spPr>
        <p:txBody>
          <a:bodyPr/>
          <a:lstStyle/>
          <a:p>
            <a:r>
              <a:rPr lang="ko-KR" altLang="en-US" dirty="0" err="1"/>
              <a:t>김유성</a:t>
            </a:r>
            <a:r>
              <a:rPr lang="en-US" altLang="ko-KR" dirty="0"/>
              <a:t>	</a:t>
            </a:r>
            <a:r>
              <a:rPr lang="ko-KR" altLang="en-US" dirty="0"/>
              <a:t>김진호</a:t>
            </a:r>
            <a:r>
              <a:rPr lang="en-US" altLang="ko-KR" dirty="0"/>
              <a:t>	</a:t>
            </a:r>
            <a:r>
              <a:rPr lang="ko-KR" altLang="en-US" dirty="0" err="1"/>
              <a:t>유현태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67B28F-F366-44EB-91E9-192BC984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09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159EF-2BA1-41D2-9311-320102C18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sz="3000" dirty="0"/>
              <a:t>입 개폐인식 향상</a:t>
            </a:r>
            <a:endParaRPr lang="en-US" altLang="ko-KR" sz="2200" dirty="0"/>
          </a:p>
          <a:p>
            <a:pPr marL="971550" lvl="1" indent="-514350">
              <a:buFont typeface="+mj-lt"/>
              <a:buAutoNum type="arabicParenR"/>
            </a:pPr>
            <a:r>
              <a:rPr lang="en-US" altLang="ko-KR" sz="2000" dirty="0"/>
              <a:t>Contrast </a:t>
            </a:r>
            <a:r>
              <a:rPr lang="ko-KR" altLang="en-US" sz="2000" dirty="0"/>
              <a:t>증가</a:t>
            </a:r>
            <a:endParaRPr lang="en-US" altLang="ko-KR" sz="2000" dirty="0"/>
          </a:p>
          <a:p>
            <a:pPr marL="971550" lvl="1" indent="-514350">
              <a:buFont typeface="+mj-lt"/>
              <a:buAutoNum type="arabicParenR"/>
            </a:pPr>
            <a:r>
              <a:rPr lang="ko-KR" altLang="en-US" sz="2000" dirty="0"/>
              <a:t>학습량 증가</a:t>
            </a:r>
            <a:endParaRPr lang="en-US" altLang="ko-KR" sz="2000" dirty="0"/>
          </a:p>
          <a:p>
            <a:pPr marL="971550" lvl="1" indent="-514350">
              <a:buFont typeface="+mj-lt"/>
              <a:buAutoNum type="arabicParenR"/>
            </a:pPr>
            <a:endParaRPr lang="en-US" altLang="ko-KR" sz="3000" dirty="0"/>
          </a:p>
          <a:p>
            <a:pPr marL="514350" indent="-514350">
              <a:buAutoNum type="arabicPeriod"/>
            </a:pPr>
            <a:r>
              <a:rPr lang="ko-KR" altLang="en-US" sz="3000" dirty="0"/>
              <a:t>화자 판별</a:t>
            </a:r>
            <a:endParaRPr lang="en-US" altLang="ko-KR" sz="2200" dirty="0"/>
          </a:p>
          <a:p>
            <a:pPr marL="971550" lvl="1" indent="-514350">
              <a:buFont typeface="+mj-lt"/>
              <a:buAutoNum type="arabicParenR"/>
            </a:pPr>
            <a:r>
              <a:rPr lang="ko-KR" altLang="en-US" sz="2200" dirty="0"/>
              <a:t>알고리즘 설계</a:t>
            </a:r>
            <a:endParaRPr lang="en-US" altLang="ko-KR" sz="2200" dirty="0"/>
          </a:p>
          <a:p>
            <a:pPr marL="971550" lvl="1" indent="-514350">
              <a:buFont typeface="+mj-lt"/>
              <a:buAutoNum type="arabicParenR"/>
            </a:pPr>
            <a:r>
              <a:rPr lang="ko-KR" altLang="en-US" sz="2200" dirty="0"/>
              <a:t>성능 향상</a:t>
            </a:r>
            <a:endParaRPr lang="en-US" altLang="ko-KR" sz="2200" dirty="0"/>
          </a:p>
          <a:p>
            <a:pPr marL="971550" lvl="1" indent="-514350">
              <a:buFont typeface="+mj-lt"/>
              <a:buAutoNum type="arabicParenR"/>
            </a:pPr>
            <a:r>
              <a:rPr lang="ko-KR" altLang="en-US" sz="2200" dirty="0"/>
              <a:t>문제점 및 해결</a:t>
            </a:r>
            <a:endParaRPr lang="en-US" altLang="ko-KR" sz="2200" dirty="0"/>
          </a:p>
          <a:p>
            <a:pPr marL="0" indent="0">
              <a:buNone/>
            </a:pPr>
            <a:endParaRPr lang="ko-KR" altLang="en-US" sz="3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44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입 개폐인식 향상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873F8-9128-4D6C-AD03-BBC20288A649}"/>
              </a:ext>
            </a:extLst>
          </p:cNvPr>
          <p:cNvSpPr txBox="1"/>
          <p:nvPr/>
        </p:nvSpPr>
        <p:spPr>
          <a:xfrm>
            <a:off x="838200" y="4322492"/>
            <a:ext cx="1088960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500" dirty="0"/>
              <a:t>조명이 </a:t>
            </a:r>
            <a:r>
              <a:rPr lang="ko-KR" altLang="en-US" sz="2500" dirty="0" err="1"/>
              <a:t>밝아짐에</a:t>
            </a:r>
            <a:r>
              <a:rPr lang="ko-KR" altLang="en-US" sz="2500" dirty="0"/>
              <a:t> 따라 입 개폐 인식률이 증가함을 확인</a:t>
            </a:r>
            <a:endParaRPr lang="en-US" altLang="ko-KR" sz="2500" dirty="0"/>
          </a:p>
          <a:p>
            <a:pPr>
              <a:lnSpc>
                <a:spcPct val="200000"/>
              </a:lnSpc>
            </a:pPr>
            <a:r>
              <a:rPr lang="ko-KR" altLang="en-US" sz="2500" dirty="0"/>
              <a:t>입과 주변의 경계가 잘 구분이 되지 않아서 생기는 오류라 판단</a:t>
            </a:r>
            <a:endParaRPr lang="en-US" altLang="ko-KR" sz="2500" dirty="0"/>
          </a:p>
          <a:p>
            <a:pPr>
              <a:lnSpc>
                <a:spcPct val="200000"/>
              </a:lnSpc>
            </a:pPr>
            <a:r>
              <a:rPr lang="ko-KR" altLang="en-US" sz="2500" dirty="0"/>
              <a:t>영상의 </a:t>
            </a:r>
            <a:r>
              <a:rPr lang="en-US" altLang="ko-KR" sz="2500" dirty="0"/>
              <a:t>Contrast</a:t>
            </a:r>
            <a:r>
              <a:rPr lang="ko-KR" altLang="en-US" sz="2500" dirty="0"/>
              <a:t>를 향상시켜 입의 경계를 명확히 하여 개선됨을 확인</a:t>
            </a:r>
            <a:endParaRPr lang="en-US" altLang="ko-KR" sz="2500" dirty="0"/>
          </a:p>
          <a:p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77446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입 개폐인식 향상 </a:t>
            </a:r>
            <a:r>
              <a:rPr lang="en-US" altLang="ko-KR" dirty="0"/>
              <a:t>– </a:t>
            </a:r>
            <a:r>
              <a:rPr lang="ko-KR" altLang="en-US" dirty="0"/>
              <a:t>학습량 증가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87E374-9870-410A-9444-BF7AAB52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7" y="1408831"/>
            <a:ext cx="1827380" cy="26016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C73CC4-403E-49FA-A9BA-EC8A3439F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179286"/>
            <a:ext cx="947795" cy="11022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64AB0A-D7D0-41AA-A05F-F6AC199A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38" y="2456594"/>
            <a:ext cx="360027" cy="4186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5329C1-41CB-45D4-A11D-17448494FB51}"/>
              </a:ext>
            </a:extLst>
          </p:cNvPr>
          <p:cNvSpPr txBox="1"/>
          <p:nvPr/>
        </p:nvSpPr>
        <p:spPr>
          <a:xfrm>
            <a:off x="5102790" y="2062095"/>
            <a:ext cx="97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34X26</a:t>
            </a:r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D180092A-035C-4D56-9C70-4FE9F85892B6}"/>
              </a:ext>
            </a:extLst>
          </p:cNvPr>
          <p:cNvSpPr/>
          <p:nvPr/>
        </p:nvSpPr>
        <p:spPr>
          <a:xfrm>
            <a:off x="3023882" y="2626045"/>
            <a:ext cx="310393" cy="249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1571FA7-3D50-43BB-8F40-22B0194B6AEC}"/>
              </a:ext>
            </a:extLst>
          </p:cNvPr>
          <p:cNvSpPr/>
          <p:nvPr/>
        </p:nvSpPr>
        <p:spPr>
          <a:xfrm>
            <a:off x="4776320" y="2585053"/>
            <a:ext cx="310393" cy="249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A5E71-4EFD-4A0B-8C0A-F66FC4E5AF81}"/>
              </a:ext>
            </a:extLst>
          </p:cNvPr>
          <p:cNvSpPr txBox="1"/>
          <p:nvPr/>
        </p:nvSpPr>
        <p:spPr>
          <a:xfrm>
            <a:off x="838200" y="4304262"/>
            <a:ext cx="59379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위와 같은 과정을 </a:t>
            </a:r>
            <a:r>
              <a:rPr lang="en-US" altLang="ko-KR" sz="2500" dirty="0"/>
              <a:t>“</a:t>
            </a:r>
            <a:r>
              <a:rPr lang="ko-KR" altLang="en-US" sz="2500" dirty="0"/>
              <a:t>열린 입</a:t>
            </a:r>
            <a:r>
              <a:rPr lang="en-US" altLang="ko-KR" sz="2500" dirty="0"/>
              <a:t>”</a:t>
            </a:r>
            <a:r>
              <a:rPr lang="ko-KR" altLang="en-US" sz="2500" dirty="0"/>
              <a:t>과 </a:t>
            </a:r>
            <a:r>
              <a:rPr lang="en-US" altLang="ko-KR" sz="2500" dirty="0"/>
              <a:t>“</a:t>
            </a:r>
            <a:r>
              <a:rPr lang="ko-KR" altLang="en-US" sz="2500" dirty="0"/>
              <a:t>닫힌 입</a:t>
            </a:r>
            <a:r>
              <a:rPr lang="en-US" altLang="ko-KR" sz="2500" dirty="0"/>
              <a:t>”</a:t>
            </a:r>
            <a:r>
              <a:rPr lang="ko-KR" altLang="en-US" sz="2500" dirty="0"/>
              <a:t>에 대해서 다양한 각도</a:t>
            </a:r>
            <a:r>
              <a:rPr lang="en-US" altLang="ko-KR" sz="2500" dirty="0"/>
              <a:t>, </a:t>
            </a:r>
            <a:r>
              <a:rPr lang="ko-KR" altLang="en-US" sz="2500" dirty="0"/>
              <a:t>방향</a:t>
            </a:r>
            <a:r>
              <a:rPr lang="en-US" altLang="ko-KR" sz="2500" dirty="0"/>
              <a:t>, </a:t>
            </a:r>
            <a:r>
              <a:rPr lang="ko-KR" altLang="en-US" sz="2500" dirty="0"/>
              <a:t>조명에 대해서 반복</a:t>
            </a:r>
            <a:endParaRPr lang="en-US" altLang="ko-KR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AFC40-48D6-423B-89F8-60E028BD3CE1}"/>
              </a:ext>
            </a:extLst>
          </p:cNvPr>
          <p:cNvSpPr txBox="1"/>
          <p:nvPr/>
        </p:nvSpPr>
        <p:spPr>
          <a:xfrm>
            <a:off x="6649508" y="1808179"/>
            <a:ext cx="522091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각각의 입 사진에 배럴 왜곡을 적용하여 개폐 상태 별 약 </a:t>
            </a:r>
            <a:r>
              <a:rPr lang="en-US" altLang="ko-KR" sz="2500" dirty="0"/>
              <a:t>7000</a:t>
            </a:r>
            <a:r>
              <a:rPr lang="ko-KR" altLang="en-US" sz="2500" dirty="0"/>
              <a:t>장의 데이터셋으로 학습 진행</a:t>
            </a:r>
            <a:endParaRPr lang="en-US" altLang="ko-KR" sz="2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1F5D5D2-26E2-4E64-B9EE-A1DDBC4180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419" y="3311820"/>
            <a:ext cx="1827380" cy="139740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A8BAECF-A675-4ED2-BFAD-612DFD92C7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444" y="3311820"/>
            <a:ext cx="1827380" cy="139740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C1459A-B5CC-438A-BAD7-C84B86D097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419" y="4957526"/>
            <a:ext cx="1827380" cy="139740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68A83A8-B5CD-4EE9-8622-78209003EC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446" y="4957527"/>
            <a:ext cx="1827378" cy="139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8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입 개폐인식 향상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873F8-9128-4D6C-AD03-BBC20288A649}"/>
              </a:ext>
            </a:extLst>
          </p:cNvPr>
          <p:cNvSpPr txBox="1"/>
          <p:nvPr/>
        </p:nvSpPr>
        <p:spPr>
          <a:xfrm>
            <a:off x="629174" y="1411126"/>
            <a:ext cx="11098635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500" dirty="0"/>
              <a:t>밝은 영상의 경우 오히려 </a:t>
            </a:r>
            <a:r>
              <a:rPr lang="en-US" altLang="ko-KR" sz="2500" dirty="0"/>
              <a:t>contrast</a:t>
            </a:r>
            <a:r>
              <a:rPr lang="ko-KR" altLang="en-US" sz="2500" dirty="0"/>
              <a:t>를 증가시키는 것이 입의 경계를 모호하게 하여 인식률이 저하됨</a:t>
            </a:r>
            <a:endParaRPr lang="en-US" altLang="ko-KR" sz="2500" dirty="0"/>
          </a:p>
          <a:p>
            <a:pPr>
              <a:lnSpc>
                <a:spcPct val="200000"/>
              </a:lnSpc>
            </a:pPr>
            <a:r>
              <a:rPr lang="ko-KR" altLang="en-US" sz="2500" dirty="0"/>
              <a:t>마냥 </a:t>
            </a:r>
            <a:r>
              <a:rPr lang="en-US" altLang="ko-KR" sz="2500" dirty="0"/>
              <a:t>contras</a:t>
            </a:r>
            <a:r>
              <a:rPr lang="ko-KR" altLang="en-US" sz="2500" dirty="0"/>
              <a:t>를 증가시키기 보다 </a:t>
            </a:r>
            <a:r>
              <a:rPr lang="en-US" altLang="ko-KR" sz="2500" dirty="0"/>
              <a:t>contrast</a:t>
            </a:r>
            <a:r>
              <a:rPr lang="ko-KR" altLang="en-US" sz="2500" dirty="0"/>
              <a:t>를 적용시킬 영상의 </a:t>
            </a:r>
            <a:r>
              <a:rPr lang="en-US" altLang="ko-KR" sz="2500" dirty="0"/>
              <a:t>contrast</a:t>
            </a:r>
            <a:r>
              <a:rPr lang="ko-KR" altLang="en-US" sz="2500" dirty="0" err="1"/>
              <a:t>임계값</a:t>
            </a:r>
            <a:r>
              <a:rPr lang="ko-KR" altLang="en-US" sz="2500" dirty="0"/>
              <a:t> 추론 필요</a:t>
            </a:r>
            <a:endParaRPr lang="en-US" altLang="ko-KR" sz="2500" dirty="0"/>
          </a:p>
          <a:p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56828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화자판별 </a:t>
            </a:r>
            <a:r>
              <a:rPr lang="en-US" altLang="ko-KR" dirty="0"/>
              <a:t>– </a:t>
            </a:r>
            <a:r>
              <a:rPr lang="ko-KR" altLang="en-US" dirty="0"/>
              <a:t>알고리즘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76A44F-28C1-402A-8357-0869AE4BD883}"/>
              </a:ext>
            </a:extLst>
          </p:cNvPr>
          <p:cNvSpPr txBox="1">
            <a:spLocks/>
          </p:cNvSpPr>
          <p:nvPr/>
        </p:nvSpPr>
        <p:spPr>
          <a:xfrm>
            <a:off x="838199" y="1587097"/>
            <a:ext cx="10653347" cy="820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500" dirty="0" err="1"/>
              <a:t>ㄴㅇ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122183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화자판별 </a:t>
            </a:r>
            <a:r>
              <a:rPr lang="en-US" altLang="ko-KR" dirty="0"/>
              <a:t>– </a:t>
            </a:r>
            <a:r>
              <a:rPr lang="ko-KR" altLang="en-US" dirty="0"/>
              <a:t>성능 향상 알고리즘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76A44F-28C1-402A-8357-0869AE4BD883}"/>
              </a:ext>
            </a:extLst>
          </p:cNvPr>
          <p:cNvSpPr txBox="1">
            <a:spLocks/>
          </p:cNvSpPr>
          <p:nvPr/>
        </p:nvSpPr>
        <p:spPr>
          <a:xfrm>
            <a:off x="838199" y="1587097"/>
            <a:ext cx="10653347" cy="820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96786-ECAA-404F-82FE-B5B6F7089115}"/>
              </a:ext>
            </a:extLst>
          </p:cNvPr>
          <p:cNvSpPr txBox="1"/>
          <p:nvPr/>
        </p:nvSpPr>
        <p:spPr>
          <a:xfrm>
            <a:off x="642255" y="1494636"/>
            <a:ext cx="113036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서로 다른 두 사람을 동일한 </a:t>
            </a:r>
            <a:r>
              <a:rPr lang="en-US" altLang="ko-KR" sz="2500" dirty="0"/>
              <a:t>A</a:t>
            </a:r>
            <a:r>
              <a:rPr lang="ko-KR" altLang="en-US" sz="2500" dirty="0"/>
              <a:t>로 인식할 경우</a:t>
            </a:r>
            <a:r>
              <a:rPr lang="en-US" altLang="ko-KR" sz="2500" dirty="0"/>
              <a:t>, B</a:t>
            </a:r>
            <a:r>
              <a:rPr lang="ko-KR" altLang="en-US" sz="2500" dirty="0"/>
              <a:t>의 입 개폐가 </a:t>
            </a:r>
            <a:r>
              <a:rPr lang="en-US" altLang="ko-KR" sz="2500" dirty="0"/>
              <a:t>A</a:t>
            </a:r>
            <a:r>
              <a:rPr lang="ko-KR" altLang="en-US" sz="2500" dirty="0"/>
              <a:t>의 것으로 인식되는 경우 발생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671A76D-F8C8-4A93-B8C7-05C1BCEAF880}"/>
              </a:ext>
            </a:extLst>
          </p:cNvPr>
          <p:cNvGrpSpPr/>
          <p:nvPr/>
        </p:nvGrpSpPr>
        <p:grpSpPr>
          <a:xfrm>
            <a:off x="6946085" y="2499613"/>
            <a:ext cx="4840448" cy="3485344"/>
            <a:chOff x="7667538" y="1378313"/>
            <a:chExt cx="4060271" cy="279101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05A36F2-0728-476B-856A-4D04FB00FDB9}"/>
                </a:ext>
              </a:extLst>
            </p:cNvPr>
            <p:cNvGrpSpPr/>
            <p:nvPr/>
          </p:nvGrpSpPr>
          <p:grpSpPr>
            <a:xfrm>
              <a:off x="7667538" y="1378313"/>
              <a:ext cx="4060271" cy="2791015"/>
              <a:chOff x="385894" y="3198724"/>
              <a:chExt cx="4060271" cy="2791015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2A4A1E44-2773-4D54-AA11-34B48D88C3EF}"/>
                  </a:ext>
                </a:extLst>
              </p:cNvPr>
              <p:cNvSpPr/>
              <p:nvPr/>
            </p:nvSpPr>
            <p:spPr>
              <a:xfrm>
                <a:off x="385894" y="3198724"/>
                <a:ext cx="4060271" cy="279101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7" name="그래픽 6" descr="사용자 단색으로 채워진">
                <a:extLst>
                  <a:ext uri="{FF2B5EF4-FFF2-40B4-BE49-F238E27FC236}">
                    <a16:creationId xmlns:a16="http://schemas.microsoft.com/office/drawing/2014/main" id="{7880E1B2-B136-44D7-9A66-71F7F15168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06074" y="4437597"/>
                <a:ext cx="1290506" cy="1290506"/>
              </a:xfrm>
              <a:prstGeom prst="rect">
                <a:avLst/>
              </a:prstGeom>
            </p:spPr>
          </p:pic>
          <p:pic>
            <p:nvPicPr>
              <p:cNvPr id="9" name="그래픽 8" descr="사용자 단색으로 채워진">
                <a:extLst>
                  <a:ext uri="{FF2B5EF4-FFF2-40B4-BE49-F238E27FC236}">
                    <a16:creationId xmlns:a16="http://schemas.microsoft.com/office/drawing/2014/main" id="{84E09532-4C85-4B6C-88BF-B1840FD322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13776" y="362404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E36A5BF-0BFF-4D9B-B3BA-F5F59BBB46FA}"/>
                  </a:ext>
                </a:extLst>
              </p:cNvPr>
              <p:cNvSpPr/>
              <p:nvPr/>
            </p:nvSpPr>
            <p:spPr>
              <a:xfrm>
                <a:off x="995494" y="4563609"/>
                <a:ext cx="711666" cy="56346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C9CD7F9-CA14-49F3-B863-E8048B116FCB}"/>
                  </a:ext>
                </a:extLst>
              </p:cNvPr>
              <p:cNvSpPr/>
              <p:nvPr/>
            </p:nvSpPr>
            <p:spPr>
              <a:xfrm>
                <a:off x="3015143" y="3649209"/>
                <a:ext cx="711666" cy="56346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F3AA6E-1A4E-493E-B605-0D2CDD6FEE6E}"/>
                  </a:ext>
                </a:extLst>
              </p:cNvPr>
              <p:cNvSpPr txBox="1"/>
              <p:nvPr/>
            </p:nvSpPr>
            <p:spPr>
              <a:xfrm>
                <a:off x="1177256" y="4159144"/>
                <a:ext cx="4725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A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CE3DD6-C5E2-4AAA-B08C-6A4CE2611294}"/>
                  </a:ext>
                </a:extLst>
              </p:cNvPr>
              <p:cNvSpPr txBox="1"/>
              <p:nvPr/>
            </p:nvSpPr>
            <p:spPr>
              <a:xfrm>
                <a:off x="3232909" y="3315047"/>
                <a:ext cx="4725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</a:rPr>
                  <a:t>A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78C098-6C72-4C3E-82D7-C48FF8D8097F}"/>
                </a:ext>
              </a:extLst>
            </p:cNvPr>
            <p:cNvSpPr txBox="1"/>
            <p:nvPr/>
          </p:nvSpPr>
          <p:spPr>
            <a:xfrm>
              <a:off x="10296787" y="2589154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실제 </a:t>
              </a:r>
              <a:r>
                <a:rPr lang="en-US" altLang="ko-KR" dirty="0">
                  <a:solidFill>
                    <a:srgbClr val="FF0000"/>
                  </a:solidFill>
                </a:rPr>
                <a:t>B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B42EA4-EC1B-469D-955F-93E123653CBE}"/>
                </a:ext>
              </a:extLst>
            </p:cNvPr>
            <p:cNvSpPr txBox="1"/>
            <p:nvPr/>
          </p:nvSpPr>
          <p:spPr>
            <a:xfrm>
              <a:off x="8277138" y="37358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실제 </a:t>
              </a:r>
              <a:r>
                <a:rPr lang="en-US" altLang="ko-KR" dirty="0">
                  <a:solidFill>
                    <a:srgbClr val="FF0000"/>
                  </a:solidFill>
                </a:rPr>
                <a:t>A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D4741E3-1C6D-4E3D-A343-BFE48AF57354}"/>
              </a:ext>
            </a:extLst>
          </p:cNvPr>
          <p:cNvSpPr txBox="1"/>
          <p:nvPr/>
        </p:nvSpPr>
        <p:spPr>
          <a:xfrm>
            <a:off x="629174" y="2718031"/>
            <a:ext cx="68657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/>
              <a:t>얼굴 인식률 자체를 높이는 것</a:t>
            </a:r>
            <a:endParaRPr lang="en-US" altLang="ko-KR" sz="2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F5CAB-456D-4EBC-A476-6F60106F59C6}"/>
              </a:ext>
            </a:extLst>
          </p:cNvPr>
          <p:cNvSpPr txBox="1"/>
          <p:nvPr/>
        </p:nvSpPr>
        <p:spPr>
          <a:xfrm>
            <a:off x="642255" y="3757683"/>
            <a:ext cx="59487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/>
              <a:t>인식 대상의</a:t>
            </a:r>
            <a:r>
              <a:rPr lang="en-US" altLang="ko-KR" sz="2500" dirty="0"/>
              <a:t>, </a:t>
            </a:r>
            <a:r>
              <a:rPr lang="ko-KR" altLang="en-US" sz="2500" dirty="0"/>
              <a:t>프레임 간 이동 정도를 파악하여 </a:t>
            </a:r>
            <a:r>
              <a:rPr lang="en-US" altLang="ko-KR" sz="2500" dirty="0"/>
              <a:t>A</a:t>
            </a:r>
            <a:r>
              <a:rPr lang="ko-KR" altLang="en-US" sz="2500" dirty="0"/>
              <a:t>로 인식된 복수의 사람 중</a:t>
            </a:r>
            <a:r>
              <a:rPr lang="en-US" altLang="ko-KR" sz="2500" dirty="0"/>
              <a:t>, </a:t>
            </a:r>
            <a:r>
              <a:rPr lang="ko-KR" altLang="en-US" sz="2500" dirty="0"/>
              <a:t>진짜 </a:t>
            </a:r>
            <a:r>
              <a:rPr lang="en-US" altLang="ko-KR" sz="2500" dirty="0"/>
              <a:t>A</a:t>
            </a:r>
            <a:r>
              <a:rPr lang="ko-KR" altLang="en-US" sz="2500" dirty="0"/>
              <a:t>를 결정하는 알고리즘의 필요성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2635559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화자판별 </a:t>
            </a:r>
            <a:r>
              <a:rPr lang="en-US" altLang="ko-KR" dirty="0"/>
              <a:t>– </a:t>
            </a:r>
            <a:r>
              <a:rPr lang="ko-KR" altLang="en-US" dirty="0"/>
              <a:t>성능 향상 알고리즘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76A44F-28C1-402A-8357-0869AE4BD883}"/>
              </a:ext>
            </a:extLst>
          </p:cNvPr>
          <p:cNvSpPr txBox="1">
            <a:spLocks/>
          </p:cNvSpPr>
          <p:nvPr/>
        </p:nvSpPr>
        <p:spPr>
          <a:xfrm>
            <a:off x="838199" y="1587097"/>
            <a:ext cx="10653347" cy="820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96786-ECAA-404F-82FE-B5B6F7089115}"/>
              </a:ext>
            </a:extLst>
          </p:cNvPr>
          <p:cNvSpPr txBox="1"/>
          <p:nvPr/>
        </p:nvSpPr>
        <p:spPr>
          <a:xfrm>
            <a:off x="642255" y="1494636"/>
            <a:ext cx="113036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서로 다른 두 사람을 동일한 </a:t>
            </a:r>
            <a:r>
              <a:rPr lang="en-US" altLang="ko-KR" sz="2500" dirty="0"/>
              <a:t>A</a:t>
            </a:r>
            <a:r>
              <a:rPr lang="ko-KR" altLang="en-US" sz="2500" dirty="0"/>
              <a:t>로 인식할 경우</a:t>
            </a:r>
            <a:r>
              <a:rPr lang="en-US" altLang="ko-KR" sz="2500" dirty="0"/>
              <a:t>, B</a:t>
            </a:r>
            <a:r>
              <a:rPr lang="ko-KR" altLang="en-US" sz="2500" dirty="0"/>
              <a:t>의 입 개폐가 </a:t>
            </a:r>
            <a:r>
              <a:rPr lang="en-US" altLang="ko-KR" sz="2500" dirty="0"/>
              <a:t>A</a:t>
            </a:r>
            <a:r>
              <a:rPr lang="ko-KR" altLang="en-US" sz="2500" dirty="0"/>
              <a:t>의 것으로 인식되는 경우 발생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741E3-1C6D-4E3D-A343-BFE48AF57354}"/>
              </a:ext>
            </a:extLst>
          </p:cNvPr>
          <p:cNvSpPr txBox="1"/>
          <p:nvPr/>
        </p:nvSpPr>
        <p:spPr>
          <a:xfrm>
            <a:off x="629174" y="2718031"/>
            <a:ext cx="68657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/>
              <a:t>얼굴 인식률 자체를 높이는 것</a:t>
            </a:r>
            <a:endParaRPr lang="en-US" altLang="ko-KR" sz="2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AF5CAB-456D-4EBC-A476-6F60106F59C6}"/>
              </a:ext>
            </a:extLst>
          </p:cNvPr>
          <p:cNvSpPr txBox="1"/>
          <p:nvPr/>
        </p:nvSpPr>
        <p:spPr>
          <a:xfrm>
            <a:off x="642255" y="3757683"/>
            <a:ext cx="594879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dirty="0"/>
              <a:t>인식 대상의</a:t>
            </a:r>
            <a:r>
              <a:rPr lang="en-US" altLang="ko-KR" sz="2500" dirty="0"/>
              <a:t>, </a:t>
            </a:r>
            <a:r>
              <a:rPr lang="ko-KR" altLang="en-US" sz="2500" dirty="0"/>
              <a:t>프레임 간 이동 정도를 파악하여 </a:t>
            </a:r>
            <a:r>
              <a:rPr lang="en-US" altLang="ko-KR" sz="2500" dirty="0"/>
              <a:t>A</a:t>
            </a:r>
            <a:r>
              <a:rPr lang="ko-KR" altLang="en-US" sz="2500" dirty="0"/>
              <a:t>로 인식된 복수의 사람 중</a:t>
            </a:r>
            <a:r>
              <a:rPr lang="en-US" altLang="ko-KR" sz="2500" dirty="0"/>
              <a:t>, </a:t>
            </a:r>
            <a:r>
              <a:rPr lang="ko-KR" altLang="en-US" sz="2500" dirty="0"/>
              <a:t>진짜 </a:t>
            </a:r>
            <a:r>
              <a:rPr lang="en-US" altLang="ko-KR" sz="2500" dirty="0"/>
              <a:t>A</a:t>
            </a:r>
            <a:r>
              <a:rPr lang="ko-KR" altLang="en-US" sz="2500" dirty="0"/>
              <a:t>를 결정하는 알고리즘의 필요성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208231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7837-BF3A-4894-95AE-5A975FA2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753"/>
            <a:ext cx="10515600" cy="73005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화자판별 </a:t>
            </a:r>
            <a:r>
              <a:rPr lang="en-US" altLang="ko-KR" dirty="0"/>
              <a:t>– </a:t>
            </a:r>
            <a:r>
              <a:rPr lang="ko-KR" altLang="en-US" dirty="0"/>
              <a:t>문제점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64B6F-8C18-4EA6-9671-14DF3E3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16EEF1-9D69-4DCE-8002-26968985ED8D}"/>
              </a:ext>
            </a:extLst>
          </p:cNvPr>
          <p:cNvSpPr/>
          <p:nvPr/>
        </p:nvSpPr>
        <p:spPr>
          <a:xfrm>
            <a:off x="629174" y="1047959"/>
            <a:ext cx="11098635" cy="69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76A44F-28C1-402A-8357-0869AE4BD883}"/>
              </a:ext>
            </a:extLst>
          </p:cNvPr>
          <p:cNvSpPr txBox="1">
            <a:spLocks/>
          </p:cNvSpPr>
          <p:nvPr/>
        </p:nvSpPr>
        <p:spPr>
          <a:xfrm>
            <a:off x="838199" y="1587097"/>
            <a:ext cx="10653347" cy="820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500" dirty="0" err="1"/>
              <a:t>ㄴㅇ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358258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34A28-423A-4A8E-8DE5-A231E6E03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1978"/>
            <a:ext cx="9144000" cy="2387600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67B28F-F366-44EB-91E9-192BC984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6231-C5AF-4BC2-BA49-CA80A566BAED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476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284</Words>
  <Application>Microsoft Office PowerPoint</Application>
  <PresentationFormat>와이드스크린</PresentationFormat>
  <Paragraphs>49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360 영상으로 부터의 얼굴 인식 및 화자 추적</vt:lpstr>
      <vt:lpstr>목차</vt:lpstr>
      <vt:lpstr>1. 입 개폐인식 향상 </vt:lpstr>
      <vt:lpstr>1. 입 개폐인식 향상 – 학습량 증가 </vt:lpstr>
      <vt:lpstr>1. 입 개폐인식 향상 </vt:lpstr>
      <vt:lpstr>2. 화자판별 – 알고리즘 설계</vt:lpstr>
      <vt:lpstr>2. 화자판별 – 성능 향상 알고리즘(1)</vt:lpstr>
      <vt:lpstr>2. 화자판별 – 성능 향상 알고리즘(2)</vt:lpstr>
      <vt:lpstr>2. 화자판별 – 문제점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 영상으로 부터의 얼굴 인식 및 화자 추적</dc:title>
  <dc:creator>김진호</dc:creator>
  <cp:lastModifiedBy>김진호</cp:lastModifiedBy>
  <cp:revision>61</cp:revision>
  <dcterms:created xsi:type="dcterms:W3CDTF">2021-02-01T01:57:54Z</dcterms:created>
  <dcterms:modified xsi:type="dcterms:W3CDTF">2021-02-26T09:56:44Z</dcterms:modified>
</cp:coreProperties>
</file>