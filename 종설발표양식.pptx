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99" r:id="rId2"/>
    <p:sldId id="300" r:id="rId3"/>
    <p:sldId id="282" r:id="rId4"/>
    <p:sldId id="302" r:id="rId5"/>
    <p:sldId id="311" r:id="rId6"/>
    <p:sldId id="318" r:id="rId7"/>
    <p:sldId id="321" r:id="rId8"/>
    <p:sldId id="33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06" y="75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5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2">
                <a:alpha val="50196"/>
              </a:schemeClr>
            </a:solidFill>
            <a:ln w="25400">
              <a:solidFill>
                <a:schemeClr val="accent2"/>
              </a:solidFill>
              <a:prstDash val="sysDot"/>
            </a:ln>
            <a:effectLst/>
          </c:spPr>
          <c:dLbls>
            <c:dLbl>
              <c:idx val="0"/>
              <c:layout>
                <c:manualLayout>
                  <c:x val="0.10312499999999999"/>
                  <c:y val="3.515624783733711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59E-46E7-99EA-E16AF9FE26BB}"/>
                </c:ext>
              </c:extLst>
            </c:dLbl>
            <c:dLbl>
              <c:idx val="1"/>
              <c:layout>
                <c:manualLayout>
                  <c:x val="5.46875E-2"/>
                  <c:y val="-2.812499826986969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937500000000001"/>
                      <c:h val="0.1224374924681660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59E-46E7-99EA-E16AF9FE26BB}"/>
                </c:ext>
              </c:extLst>
            </c:dLbl>
            <c:dLbl>
              <c:idx val="3"/>
              <c:layout>
                <c:manualLayout>
                  <c:x val="-8.2352941176470615E-2"/>
                  <c:y val="2.773109060205826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59E-46E7-99EA-E16AF9FE26BB}"/>
                </c:ext>
              </c:extLst>
            </c:dLbl>
            <c:dLbl>
              <c:idx val="4"/>
              <c:layout>
                <c:manualLayout>
                  <c:x val="-6.7184740232459905E-2"/>
                  <c:y val="2.374313474947175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835507497784533"/>
                      <c:h val="0.122105218694409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59E-46E7-99EA-E16AF9FE26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PPT 능력</c:v>
                </c:pt>
                <c:pt idx="1">
                  <c:v>커뮤니케이션 능력</c:v>
                </c:pt>
                <c:pt idx="2">
                  <c:v>분석력</c:v>
                </c:pt>
                <c:pt idx="3">
                  <c:v>기획력</c:v>
                </c:pt>
                <c:pt idx="4">
                  <c:v>정보수집능력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67</c:v>
                </c:pt>
                <c:pt idx="2">
                  <c:v>92</c:v>
                </c:pt>
                <c:pt idx="3">
                  <c:v>83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9E-46E7-99EA-E16AF9FE26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608095984"/>
        <c:axId val="608096768"/>
      </c:radarChart>
      <c:catAx>
        <c:axId val="60809598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608096768"/>
        <c:crosses val="autoZero"/>
        <c:auto val="1"/>
        <c:lblAlgn val="ctr"/>
        <c:lblOffset val="100"/>
        <c:noMultiLvlLbl val="0"/>
      </c:catAx>
      <c:valAx>
        <c:axId val="60809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cross"/>
        <c:tickLblPos val="nextTo"/>
        <c:spPr>
          <a:noFill/>
          <a:ln>
            <a:solidFill>
              <a:schemeClr val="accent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0809598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5400" cap="rnd" cmpd="sng" algn="ctr">
        <a:solidFill>
          <a:schemeClr val="phClr"/>
        </a:solidFill>
        <a:prstDash val="sysDot"/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5D73201-1129-4ECD-96B3-4211FBC913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53F468-8D31-4421-9ACA-0DEDCC6983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EE5BA-EB8D-41DE-99E2-3FEF77112972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F4A516-D9EA-4185-A455-D43267F004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BF15AD-B0D2-40B9-80B5-9F7BFD00EF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2FB1D-46D6-475D-9DBC-E1C293E3C4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68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EF6E2-B1E4-4B6C-8264-89F01855DE91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E5F33-29CA-402F-BC72-8BFC6B70BC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9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8B16A-1684-4D81-B0F9-355DABA284BE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0D93-4DE9-4EE1-9672-6FDC6B3DA548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20A2-133E-4668-8392-EF20E736FEAE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59BF07F-4231-4E08-B5FE-24CA4528E1D2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D0D6-F47D-4B59-B99E-912E9FA5FD09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EE0E378B-CBAA-44D8-8994-3CB124D05FDB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2A3A-2FFE-4A00-9474-548DBC2ED521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01B2FED5-1904-4103-B506-8CC604A348A7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36B3-5662-4590-92B7-9003C77613B5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F133BBD1-78B7-4A9F-A416-AF29B7AE5B1E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FA13-5D1A-4D7B-93CC-970C4E7EA662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D74CABC2-2648-44C6-826B-53679CDA6A69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6F151-1A70-4391-B2A5-49D5765119A4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7C363CB0-FA5B-4394-87C3-30DB12D14DF0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2203-0142-4C95-B57B-2D943DDE9A68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0733B9D2-3C7D-4140-8D65-10AFA27E272D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99E9-DBEA-482C-B3D2-AF5A7BC37ABE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FBBF33B-0FB7-4ACF-86C2-C598E956ED75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C9F89-7122-4789-BEF4-C94C4A6D14BE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23818AA-0552-40FA-B87D-77D4AF702E1D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982A2-C59E-4417-AC79-66C8F9FB3CA7}" type="datetime1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F4F9CA-1B21-49EC-90BA-D6C25BF3458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800" y="5613399"/>
            <a:ext cx="1100537" cy="1108075"/>
          </a:xfrm>
          <a:prstGeom prst="rect">
            <a:avLst/>
          </a:prstGeom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728740D-D703-4950-8C11-77A461597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5AC3A-BA06-4AE0-833B-7241F9EB1D0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56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2400" y="6975"/>
            <a:ext cx="122168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C8A8BC7-783F-41E1-9A42-827B47A2A5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12400" y="-6975"/>
            <a:ext cx="1220123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524" y="2974310"/>
            <a:ext cx="11520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360</a:t>
            </a:r>
            <a:r>
              <a:rPr lang="ko-KR" altLang="en-US" sz="5400" b="1" dirty="0">
                <a:solidFill>
                  <a:schemeClr val="bg1"/>
                </a:solidFill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</a:rPr>
              <a:t>Hybrid</a:t>
            </a:r>
            <a:r>
              <a:rPr lang="ko-KR" altLang="en-US" sz="5400" b="1" dirty="0">
                <a:solidFill>
                  <a:schemeClr val="bg1"/>
                </a:solidFill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</a:rPr>
              <a:t>Digital Twin Classroom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4111158" y="4427586"/>
            <a:ext cx="3994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김유성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김주형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김진호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박재현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유현태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" y="158119"/>
            <a:ext cx="2393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 dirty="0">
                <a:solidFill>
                  <a:schemeClr val="bg1"/>
                </a:solidFill>
              </a:rPr>
              <a:t>2021 </a:t>
            </a:r>
            <a:r>
              <a:rPr lang="ko-KR" altLang="en-US" sz="1400" spc="-150" dirty="0">
                <a:solidFill>
                  <a:schemeClr val="bg1"/>
                </a:solidFill>
              </a:rPr>
              <a:t>학년도 </a:t>
            </a:r>
            <a:r>
              <a:rPr lang="en-US" altLang="ko-KR" sz="1400" spc="-150" dirty="0">
                <a:solidFill>
                  <a:schemeClr val="bg1"/>
                </a:solidFill>
              </a:rPr>
              <a:t>1</a:t>
            </a:r>
            <a:r>
              <a:rPr lang="ko-KR" altLang="en-US" sz="1400" spc="-150" dirty="0">
                <a:solidFill>
                  <a:schemeClr val="bg1"/>
                </a:solidFill>
              </a:rPr>
              <a:t>학기 중간 발표</a:t>
            </a:r>
            <a:r>
              <a:rPr lang="en-US" altLang="ko-KR" sz="1400" spc="-150" dirty="0">
                <a:solidFill>
                  <a:schemeClr val="bg1"/>
                </a:solidFill>
              </a:rPr>
              <a:t>        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/>
          <p:cNvCxnSpPr>
            <a:cxnSpLocks/>
          </p:cNvCxnSpPr>
          <p:nvPr/>
        </p:nvCxnSpPr>
        <p:spPr>
          <a:xfrm>
            <a:off x="139700" y="491296"/>
            <a:ext cx="20585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66123" y="6033184"/>
            <a:ext cx="32506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Advisor by Prof. In Kyu Park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998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0" y="3403"/>
            <a:ext cx="12192000" cy="6858000"/>
          </a:xfrm>
          <a:prstGeom prst="rect">
            <a:avLst/>
          </a:prstGeom>
          <a:solidFill>
            <a:schemeClr val="accent4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 descr="사람, 사람들이(가) 표시된 사진&#10;&#10;자동 생성된 설명">
            <a:extLst>
              <a:ext uri="{FF2B5EF4-FFF2-40B4-BE49-F238E27FC236}">
                <a16:creationId xmlns:a16="http://schemas.microsoft.com/office/drawing/2014/main" id="{B3F14C55-7C33-45A7-AAD4-0EB572EF74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403"/>
          </a:xfrm>
          <a:prstGeom prst="rect">
            <a:avLst/>
          </a:prstGeom>
        </p:spPr>
      </p:pic>
      <p:cxnSp>
        <p:nvCxnSpPr>
          <p:cNvPr id="23" name="직선 연결선 22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6674" y="588588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CONTENTS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991B6-9741-4A1F-ABB5-F3B694F67173}"/>
              </a:ext>
            </a:extLst>
          </p:cNvPr>
          <p:cNvSpPr txBox="1"/>
          <p:nvPr/>
        </p:nvSpPr>
        <p:spPr>
          <a:xfrm>
            <a:off x="1815424" y="1754123"/>
            <a:ext cx="4039888" cy="3483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bg1"/>
                </a:solidFill>
              </a:rPr>
              <a:t>1. </a:t>
            </a:r>
            <a:r>
              <a:rPr lang="ko-KR" altLang="en-US" sz="2500" dirty="0">
                <a:solidFill>
                  <a:schemeClr val="bg1"/>
                </a:solidFill>
              </a:rPr>
              <a:t>주제 설명</a:t>
            </a:r>
            <a:endParaRPr lang="en-US" altLang="ko-KR" sz="25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AutoNum type="alphaLcPeriod"/>
            </a:pPr>
            <a:r>
              <a:rPr lang="en-US" altLang="ko-KR" sz="2500" dirty="0">
                <a:solidFill>
                  <a:schemeClr val="bg1"/>
                </a:solidFill>
              </a:rPr>
              <a:t>360 </a:t>
            </a:r>
            <a:r>
              <a:rPr lang="ko-KR" altLang="en-US" sz="2500" dirty="0">
                <a:solidFill>
                  <a:schemeClr val="bg1"/>
                </a:solidFill>
              </a:rPr>
              <a:t>영상 송출 시스템</a:t>
            </a:r>
            <a:endParaRPr lang="en-US" altLang="ko-KR" sz="25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AutoNum type="alphaLcPeriod"/>
            </a:pPr>
            <a:r>
              <a:rPr lang="ko-KR" altLang="en-US" sz="2500" dirty="0" err="1">
                <a:solidFill>
                  <a:schemeClr val="bg1"/>
                </a:solidFill>
              </a:rPr>
              <a:t>에듀베이션</a:t>
            </a:r>
            <a:r>
              <a:rPr lang="ko-KR" altLang="en-US" sz="25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bg1"/>
                </a:solidFill>
              </a:rPr>
              <a:t>2. </a:t>
            </a:r>
            <a:r>
              <a:rPr lang="ko-KR" altLang="en-US" sz="2500" dirty="0">
                <a:solidFill>
                  <a:schemeClr val="bg1"/>
                </a:solidFill>
              </a:rPr>
              <a:t>진행 사항</a:t>
            </a:r>
            <a:endParaRPr lang="en-US" altLang="ko-KR" sz="2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5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bg1"/>
                </a:solidFill>
              </a:rPr>
              <a:t>3. </a:t>
            </a:r>
            <a:r>
              <a:rPr lang="ko-KR" altLang="en-US" sz="2500" dirty="0">
                <a:solidFill>
                  <a:schemeClr val="bg1"/>
                </a:solidFill>
              </a:rPr>
              <a:t>진행 계획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D6B933-A244-431D-A994-A80819CEB96D}"/>
              </a:ext>
            </a:extLst>
          </p:cNvPr>
          <p:cNvSpPr txBox="1"/>
          <p:nvPr/>
        </p:nvSpPr>
        <p:spPr>
          <a:xfrm>
            <a:off x="6336690" y="1754123"/>
            <a:ext cx="1503938" cy="597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dirty="0">
                <a:solidFill>
                  <a:schemeClr val="bg1"/>
                </a:solidFill>
              </a:rPr>
              <a:t>4. </a:t>
            </a:r>
            <a:r>
              <a:rPr lang="ko-KR" altLang="en-US" sz="2500" dirty="0">
                <a:solidFill>
                  <a:schemeClr val="bg1"/>
                </a:solidFill>
              </a:rPr>
              <a:t>문제점</a:t>
            </a:r>
          </a:p>
        </p:txBody>
      </p:sp>
    </p:spTree>
    <p:extLst>
      <p:ext uri="{BB962C8B-B14F-4D97-AF65-F5344CB8AC3E}">
        <p14:creationId xmlns:p14="http://schemas.microsoft.com/office/powerpoint/2010/main" val="224010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2099938"/>
            <a:chOff x="527769" y="1728426"/>
            <a:chExt cx="5187231" cy="2099938"/>
          </a:xfrm>
        </p:grpSpPr>
        <p:grpSp>
          <p:nvGrpSpPr>
            <p:cNvPr id="2" name="그룹 1"/>
            <p:cNvGrpSpPr/>
            <p:nvPr/>
          </p:nvGrpSpPr>
          <p:grpSpPr>
            <a:xfrm>
              <a:off x="558064" y="3058923"/>
              <a:ext cx="3836832" cy="769441"/>
              <a:chOff x="471977" y="2691080"/>
              <a:chExt cx="3836832" cy="769441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471977" y="2691080"/>
                <a:ext cx="307648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400" b="1" spc="-150" dirty="0">
                    <a:solidFill>
                      <a:schemeClr val="bg1">
                        <a:alpha val="70000"/>
                      </a:schemeClr>
                    </a:solidFill>
                    <a:latin typeface="+mj-lt"/>
                    <a:ea typeface="THE명품고딕L" panose="02020603020101020101" pitchFamily="18" charset="-127"/>
                  </a:rPr>
                  <a:t>Introduction</a:t>
                </a:r>
                <a:endParaRPr lang="ko-KR" altLang="en-US" sz="44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232326" y="2691080"/>
                <a:ext cx="307648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400" b="1" spc="-150" dirty="0">
                    <a:solidFill>
                      <a:schemeClr val="tx1">
                        <a:lumMod val="20000"/>
                        <a:lumOff val="80000"/>
                        <a:alpha val="10000"/>
                      </a:schemeClr>
                    </a:solidFill>
                    <a:latin typeface="+mj-lt"/>
                    <a:ea typeface="THE명품고딕L" panose="02020603020101020101" pitchFamily="18" charset="-127"/>
                  </a:rPr>
                  <a:t>Introduction</a:t>
                </a:r>
                <a:endParaRPr lang="ko-KR" altLang="en-US" sz="4400" b="1" spc="-150" dirty="0">
                  <a:solidFill>
                    <a:schemeClr val="tx1">
                      <a:lumMod val="20000"/>
                      <a:lumOff val="80000"/>
                      <a:alpha val="10000"/>
                    </a:schemeClr>
                  </a:solidFill>
                  <a:latin typeface="+mj-lt"/>
                  <a:ea typeface="THE명품고딕L" panose="02020603020101020101" pitchFamily="18" charset="-127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527769" y="1728426"/>
              <a:ext cx="290977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Part 1.</a:t>
              </a:r>
              <a:endParaRPr lang="ko-KR" altLang="en-US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85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891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2786113730"/>
              </p:ext>
            </p:extLst>
          </p:nvPr>
        </p:nvGraphicFramePr>
        <p:xfrm>
          <a:off x="2133600" y="2138988"/>
          <a:ext cx="7962061" cy="4166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1187" y="176084"/>
            <a:ext cx="3759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4"/>
                </a:solidFill>
              </a:rPr>
              <a:t>1. </a:t>
            </a:r>
            <a:r>
              <a:rPr lang="ko-KR" altLang="en-US" sz="2800" b="1" dirty="0">
                <a:solidFill>
                  <a:schemeClr val="accent4"/>
                </a:solidFill>
              </a:rPr>
              <a:t>주제 설명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9252" y="1180991"/>
            <a:ext cx="3010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 dirty="0">
                <a:solidFill>
                  <a:schemeClr val="accent4"/>
                </a:solidFill>
              </a:rPr>
              <a:t>201X</a:t>
            </a:r>
            <a:r>
              <a:rPr lang="ko-KR" altLang="en-US" sz="1400" spc="-150" dirty="0">
                <a:solidFill>
                  <a:schemeClr val="accent4"/>
                </a:solidFill>
              </a:rPr>
              <a:t>년 </a:t>
            </a:r>
            <a:r>
              <a:rPr lang="en-US" altLang="ko-KR" sz="1400" spc="-150" dirty="0">
                <a:solidFill>
                  <a:schemeClr val="accent4"/>
                </a:solidFill>
              </a:rPr>
              <a:t>OOOO</a:t>
            </a:r>
            <a:r>
              <a:rPr lang="ko-KR" altLang="en-US" sz="1400" spc="-150" dirty="0">
                <a:solidFill>
                  <a:schemeClr val="accent4"/>
                </a:solidFill>
              </a:rPr>
              <a:t>사 </a:t>
            </a:r>
            <a:r>
              <a:rPr lang="en-US" altLang="ko-KR" sz="1400" spc="-150" dirty="0">
                <a:solidFill>
                  <a:schemeClr val="accent4"/>
                </a:solidFill>
              </a:rPr>
              <a:t>XXX </a:t>
            </a:r>
            <a:r>
              <a:rPr lang="ko-KR" altLang="en-US" sz="1400" spc="-150" dirty="0">
                <a:solidFill>
                  <a:schemeClr val="accent4"/>
                </a:solidFill>
              </a:rPr>
              <a:t>자료를 기준으로 분석</a:t>
            </a:r>
          </a:p>
        </p:txBody>
      </p:sp>
    </p:spTree>
    <p:extLst>
      <p:ext uri="{BB962C8B-B14F-4D97-AF65-F5344CB8AC3E}">
        <p14:creationId xmlns:p14="http://schemas.microsoft.com/office/powerpoint/2010/main" val="32122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83464" y="3541759"/>
            <a:ext cx="6238503" cy="769441"/>
            <a:chOff x="510077" y="2691080"/>
            <a:chExt cx="6238503" cy="769441"/>
          </a:xfrm>
        </p:grpSpPr>
        <p:sp>
          <p:nvSpPr>
            <p:cNvPr id="18" name="TextBox 17"/>
            <p:cNvSpPr txBox="1"/>
            <p:nvPr/>
          </p:nvSpPr>
          <p:spPr>
            <a:xfrm>
              <a:off x="510077" y="2691080"/>
              <a:ext cx="551625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Extracurricular Activity</a:t>
              </a:r>
              <a:endParaRPr lang="ko-KR" altLang="en-US" sz="44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32326" y="2691080"/>
              <a:ext cx="551625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tx1">
                      <a:lumMod val="20000"/>
                      <a:lumOff val="80000"/>
                      <a:alpha val="1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Extracurricular Activity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2.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212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83464" y="3541759"/>
            <a:ext cx="3793924" cy="769441"/>
            <a:chOff x="510077" y="2691080"/>
            <a:chExt cx="3793924" cy="769441"/>
          </a:xfrm>
        </p:grpSpPr>
        <p:sp>
          <p:nvSpPr>
            <p:cNvPr id="18" name="TextBox 17"/>
            <p:cNvSpPr txBox="1"/>
            <p:nvPr/>
          </p:nvSpPr>
          <p:spPr>
            <a:xfrm>
              <a:off x="510077" y="2691080"/>
              <a:ext cx="307167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Certification</a:t>
              </a:r>
              <a:endParaRPr lang="ko-KR" altLang="en-US" sz="44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32326" y="2691080"/>
              <a:ext cx="307167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tx1">
                      <a:lumMod val="20000"/>
                      <a:lumOff val="80000"/>
                      <a:alpha val="1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Certification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3.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52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83464" y="3541759"/>
            <a:ext cx="3813160" cy="769441"/>
            <a:chOff x="510077" y="2691080"/>
            <a:chExt cx="3813160" cy="769441"/>
          </a:xfrm>
        </p:grpSpPr>
        <p:sp>
          <p:nvSpPr>
            <p:cNvPr id="18" name="TextBox 17"/>
            <p:cNvSpPr txBox="1"/>
            <p:nvPr/>
          </p:nvSpPr>
          <p:spPr>
            <a:xfrm>
              <a:off x="510077" y="2691080"/>
              <a:ext cx="262123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Reference</a:t>
              </a:r>
              <a:endParaRPr lang="ko-KR" altLang="en-US" sz="44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32326" y="2691080"/>
              <a:ext cx="309091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 dirty="0">
                  <a:solidFill>
                    <a:schemeClr val="tx1">
                      <a:lumMod val="20000"/>
                      <a:lumOff val="80000"/>
                      <a:alpha val="1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&amp; Reference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4.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247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0CEC669-A80E-4BDF-A6E3-550A5D2AB2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2315" y="0"/>
            <a:ext cx="12201236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4500" y="3058825"/>
            <a:ext cx="416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dirty="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72468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</TotalTime>
  <Words>96</Words>
  <Application>Microsoft Office PowerPoint</Application>
  <PresentationFormat>와이드스크린</PresentationFormat>
  <Paragraphs>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나눔스퀘어라운드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유현태</cp:lastModifiedBy>
  <cp:revision>65</cp:revision>
  <dcterms:created xsi:type="dcterms:W3CDTF">2015-07-07T04:48:58Z</dcterms:created>
  <dcterms:modified xsi:type="dcterms:W3CDTF">2021-05-07T11:52:21Z</dcterms:modified>
</cp:coreProperties>
</file>