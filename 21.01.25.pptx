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0"/>
  </p:notesMasterIdLst>
  <p:sldIdLst>
    <p:sldId id="282" r:id="rId2"/>
    <p:sldId id="283" r:id="rId3"/>
    <p:sldId id="285" r:id="rId4"/>
    <p:sldId id="257" r:id="rId5"/>
    <p:sldId id="258" r:id="rId6"/>
    <p:sldId id="259" r:id="rId7"/>
    <p:sldId id="260" r:id="rId8"/>
    <p:sldId id="262" r:id="rId9"/>
    <p:sldId id="263" r:id="rId10"/>
    <p:sldId id="264" r:id="rId11"/>
    <p:sldId id="286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87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8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D2BD9A-5C9E-4CCF-82BF-E00A17DE2A35}" type="datetimeFigureOut">
              <a:rPr lang="ko-KR" altLang="en-US" smtClean="0"/>
              <a:t>2021-01-25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FC3A36-756F-43E0-B504-22C47CFD85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684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D0EC18-D0DD-4427-A10D-384BCE89C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B63C0B-6ADB-4BF3-BE0F-49C07CC4DF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B0B880-2C7C-4449-ACE5-D9CC45404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1AB5CE-7B62-430B-B5FD-1CE44A45FE59}" type="datetime1">
              <a:rPr lang="ko-KR" altLang="en-US" smtClean="0"/>
              <a:t>2021-01-25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CAE03C5-C6F7-4F43-9926-EC9FAAD622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141" y="4996500"/>
            <a:ext cx="1730409" cy="1861500"/>
          </a:xfrm>
          <a:prstGeom prst="rect">
            <a:avLst/>
          </a:prstGeom>
        </p:spPr>
      </p:pic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4BEB62BC-813F-486A-B513-9802E4D6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34919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fld id="{5D230D1E-D546-41FC-A086-E911DB436A8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7868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904E9D-FC92-42C0-BE7A-61051DD3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C9DA16-8AE5-41B2-AF60-58DADFA45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66E998-4F4B-44BB-8679-7D29184F6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CB96B-2A10-46C2-AFC3-14131FD3B5CB}" type="datetime1">
              <a:rPr lang="ko-KR" altLang="en-US" smtClean="0"/>
              <a:t>2021-01-25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4DF83F-4F8E-4F42-8A85-1258FBBC9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34919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fld id="{5D230D1E-D546-41FC-A086-E911DB436A8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928D8AB-7594-4759-A53E-2A24215293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141" y="4996500"/>
            <a:ext cx="1730409" cy="186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83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905E25-19DC-4D9D-B7DB-8C3068F1A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10376A9-37A0-4E4C-AF51-9BF236E56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81008B-FF57-4698-97B0-622724858723}" type="datetime1">
              <a:rPr lang="ko-KR" altLang="en-US" smtClean="0"/>
              <a:t>2021-01-25</a:t>
            </a:fld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CE86A3-A87A-4FB3-A251-1DD61ED4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34919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fld id="{5D230D1E-D546-41FC-A086-E911DB436A8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858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D12563E-A3A6-4AFC-BD6B-7219253A9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C211E0-7001-4E1E-BEAB-A2313B30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EDD2C5-033B-4B70-B47F-92FDC83E87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46863D-3C3D-4B2A-8521-EF4374E23A37}" type="datetime1">
              <a:rPr lang="ko-KR" altLang="en-US" smtClean="0"/>
              <a:t>2021-01-25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2A1CFBE-E307-4E6B-8FCA-51CA79A4053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0141" y="4996500"/>
            <a:ext cx="1730409" cy="1861500"/>
          </a:xfrm>
          <a:prstGeom prst="rect">
            <a:avLst/>
          </a:prstGeom>
        </p:spPr>
      </p:pic>
      <p:sp>
        <p:nvSpPr>
          <p:cNvPr id="8" name="슬라이드 번호 개체 틀 5">
            <a:extLst>
              <a:ext uri="{FF2B5EF4-FFF2-40B4-BE49-F238E27FC236}">
                <a16:creationId xmlns:a16="http://schemas.microsoft.com/office/drawing/2014/main" id="{73CEA1C8-F21F-4527-9C7B-FA2C28672E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34919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pPr algn="ctr"/>
            <a:fld id="{5D230D1E-D546-41FC-A086-E911DB436A8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60472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vgsilh.com/ko/image/146638.html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49773-ECC6-4B07-8236-E57B4F7363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/>
              <a:t>360 </a:t>
            </a:r>
            <a:r>
              <a:rPr lang="ko-KR" altLang="en-US" sz="3200" dirty="0"/>
              <a:t>영상으로부터의 얼굴 인식 및 화자 추적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330A6AC-D439-425A-B8A1-67A21B4421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김유성</a:t>
            </a:r>
            <a:r>
              <a:rPr lang="en-US" altLang="ko-KR" dirty="0"/>
              <a:t>, </a:t>
            </a:r>
            <a:r>
              <a:rPr lang="ko-KR" altLang="en-US" dirty="0"/>
              <a:t>김진호</a:t>
            </a:r>
            <a:r>
              <a:rPr lang="en-US" altLang="ko-KR" dirty="0"/>
              <a:t>, </a:t>
            </a:r>
            <a:r>
              <a:rPr lang="ko-KR" altLang="en-US" dirty="0"/>
              <a:t>유현태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D0DBE3-3836-4854-8D1D-1C7AB7D5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106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082FF-39CA-456F-A160-205E203D5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E12A97-D50A-4287-9C21-E4F2924AF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altLang="ko-KR" dirty="0"/>
              <a:t>1. </a:t>
            </a:r>
            <a:r>
              <a:rPr lang="ko-KR" altLang="en-US" dirty="0"/>
              <a:t>복수의 얼굴 검출</a:t>
            </a:r>
            <a:endParaRPr lang="en-US" altLang="ko-KR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altLang="ko-KR" dirty="0"/>
              <a:t>2. </a:t>
            </a:r>
            <a:r>
              <a:rPr lang="ko-KR" altLang="en-US" dirty="0"/>
              <a:t>신원 파악</a:t>
            </a:r>
            <a:endParaRPr lang="en-US" altLang="ko-KR" dirty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altLang="ko-KR" dirty="0"/>
              <a:t>3. </a:t>
            </a:r>
            <a:r>
              <a:rPr lang="ko-KR" altLang="en-US" dirty="0"/>
              <a:t>화자 판별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B59143-FA47-46D3-8C18-0BC66756F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572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F4882-2513-45D9-A1F8-E78A88CF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7007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1. </a:t>
            </a:r>
            <a:r>
              <a:rPr lang="ko-KR" altLang="en-US" dirty="0"/>
              <a:t>복수의 얼굴 검출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C34F90-008B-4532-9BEA-A53093B23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34919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544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18BF2-7B46-4F5A-B227-ED26ACDB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4920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000" dirty="0"/>
              <a:t>딥러닝 기반 얼굴 인식 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CD246E-9E22-41E9-ACF6-ECB8DD84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0483"/>
            <a:ext cx="10391274" cy="3224464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Face detection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Landmark detection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Normalization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Feature extraction</a:t>
            </a:r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BAE171-0FC4-4CE5-8577-F7EB34B34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9625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18BF2-7B46-4F5A-B227-ED26ACDB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63" y="500271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000" dirty="0"/>
              <a:t>1. </a:t>
            </a:r>
            <a:r>
              <a:rPr lang="ko-KR" altLang="en-US" sz="3000" dirty="0"/>
              <a:t>얼굴 검출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CD246E-9E22-41E9-ACF6-ECB8DD84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976" y="1825834"/>
            <a:ext cx="9781674" cy="32244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2800" dirty="0"/>
              <a:t>부분 검출을 이용한 방식</a:t>
            </a:r>
            <a:r>
              <a:rPr lang="en-US" altLang="ko-KR" sz="2800" dirty="0"/>
              <a:t> (2015</a:t>
            </a:r>
            <a:r>
              <a:rPr lang="ko-KR" altLang="en-US" sz="2800" dirty="0"/>
              <a:t>년 개발</a:t>
            </a:r>
            <a:r>
              <a:rPr lang="en-US" altLang="ko-KR" sz="2800" dirty="0"/>
              <a:t>)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Face DB</a:t>
            </a:r>
            <a:r>
              <a:rPr lang="ko-KR" altLang="en-US" dirty="0"/>
              <a:t>에서 </a:t>
            </a:r>
            <a:r>
              <a:rPr lang="en-US" altLang="ko-KR" dirty="0"/>
              <a:t>occlusion</a:t>
            </a:r>
            <a:r>
              <a:rPr lang="ko-KR" altLang="en-US" dirty="0"/>
              <a:t>이 심한 얼굴을 검출하기 위한 방식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얼굴의 부분</a:t>
            </a:r>
            <a:r>
              <a:rPr lang="en-US" altLang="ko-KR" dirty="0"/>
              <a:t>(</a:t>
            </a:r>
            <a:r>
              <a:rPr lang="ko-KR" altLang="en-US" dirty="0"/>
              <a:t>머리</a:t>
            </a:r>
            <a:r>
              <a:rPr lang="en-US" altLang="ko-KR" dirty="0"/>
              <a:t>, </a:t>
            </a:r>
            <a:r>
              <a:rPr lang="ko-KR" altLang="en-US" dirty="0"/>
              <a:t>눈</a:t>
            </a:r>
            <a:r>
              <a:rPr lang="en-US" altLang="ko-KR" dirty="0"/>
              <a:t>, </a:t>
            </a:r>
            <a:r>
              <a:rPr lang="ko-KR" altLang="en-US" dirty="0"/>
              <a:t>코</a:t>
            </a:r>
            <a:r>
              <a:rPr lang="en-US" altLang="ko-KR" dirty="0"/>
              <a:t>, </a:t>
            </a:r>
            <a:r>
              <a:rPr lang="ko-KR" altLang="en-US" dirty="0"/>
              <a:t>입</a:t>
            </a:r>
            <a:r>
              <a:rPr lang="en-US" altLang="ko-KR" dirty="0"/>
              <a:t>, </a:t>
            </a:r>
            <a:r>
              <a:rPr lang="ko-KR" altLang="en-US" dirty="0"/>
              <a:t>수염</a:t>
            </a:r>
            <a:r>
              <a:rPr lang="en-US" altLang="ko-KR" dirty="0"/>
              <a:t>)</a:t>
            </a:r>
            <a:r>
              <a:rPr lang="ko-KR" altLang="en-US" dirty="0"/>
              <a:t>을 개별적으로 검출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파트별로 </a:t>
            </a:r>
            <a:r>
              <a:rPr lang="en-US" altLang="ko-KR" dirty="0"/>
              <a:t>7</a:t>
            </a:r>
            <a:r>
              <a:rPr lang="ko-KR" altLang="en-US" dirty="0"/>
              <a:t>개의 </a:t>
            </a:r>
            <a:r>
              <a:rPr lang="en-US" altLang="ko-KR" dirty="0"/>
              <a:t>layer</a:t>
            </a:r>
            <a:r>
              <a:rPr lang="ko-KR" altLang="en-US" dirty="0"/>
              <a:t>로 구성된 검출기 사용 </a:t>
            </a:r>
            <a:r>
              <a:rPr lang="en-US" altLang="ko-KR" dirty="0"/>
              <a:t>(</a:t>
            </a:r>
            <a:r>
              <a:rPr lang="ko-KR" altLang="en-US" dirty="0"/>
              <a:t>총 </a:t>
            </a:r>
            <a:r>
              <a:rPr lang="en-US" altLang="ko-KR" dirty="0"/>
              <a:t>5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67DF41-3304-45B5-8BD8-4B102B38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094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562271"/>
            <a:ext cx="10515600" cy="1128417"/>
          </a:xfrm>
        </p:spPr>
        <p:txBody>
          <a:bodyPr vert="horz" lIns="91440" tIns="45720" rIns="91440" bIns="45720" anchor="ctr">
            <a:normAutofit/>
          </a:bodyPr>
          <a:lstStyle/>
          <a:p>
            <a:pPr latinLnBrk="0">
              <a:defRPr/>
            </a:pPr>
            <a:r>
              <a:rPr lang="en-US" altLang="ko-KR" sz="3000"/>
              <a:t>1. </a:t>
            </a:r>
            <a:r>
              <a:rPr lang="ko-KR" altLang="en-US" sz="3000"/>
              <a:t>얼굴 검출</a:t>
            </a:r>
            <a:r>
              <a:rPr lang="en-US" altLang="ko-KR" sz="3000"/>
              <a:t>(</a:t>
            </a:r>
            <a:r>
              <a:rPr lang="ko-KR" altLang="en-US" sz="3000"/>
              <a:t>부분 검출을 이용한 방식</a:t>
            </a:r>
            <a:r>
              <a:rPr lang="en-US" altLang="ko-KR" sz="3000"/>
              <a:t>)</a:t>
            </a:r>
            <a:endParaRPr lang="ko-KR" altLang="en-US" sz="300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30305" y="1508639"/>
            <a:ext cx="10455794" cy="5159797"/>
          </a:xfrm>
          <a:prstGeom prst="rect">
            <a:avLst/>
          </a:prstGeom>
        </p:spPr>
      </p:pic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2831EF-5A4E-419E-9891-E9B763AE3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6</a:t>
            </a:fld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18BF2-7B46-4F5A-B227-ED26ACDB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08" y="45210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000" dirty="0"/>
              <a:t>2. </a:t>
            </a:r>
            <a:r>
              <a:rPr lang="ko-KR" altLang="en-US" sz="3000" dirty="0"/>
              <a:t>얼굴 랜드마크 검출 </a:t>
            </a:r>
            <a:r>
              <a:rPr lang="en-US" altLang="ko-KR" sz="3000" dirty="0"/>
              <a:t>– </a:t>
            </a:r>
            <a:r>
              <a:rPr lang="ko-KR" altLang="en-US" sz="3000" dirty="0"/>
              <a:t>방법 </a:t>
            </a:r>
            <a:r>
              <a:rPr lang="en-US" altLang="ko-KR" sz="3000" dirty="0"/>
              <a:t>1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CD246E-9E22-41E9-ACF6-ECB8DD84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1493330"/>
            <a:ext cx="10391274" cy="221556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2300" dirty="0"/>
              <a:t>Cascade</a:t>
            </a:r>
            <a:r>
              <a:rPr lang="ko-KR" altLang="en-US" sz="2300" dirty="0"/>
              <a:t> 기반의 </a:t>
            </a:r>
            <a:r>
              <a:rPr lang="en-US" altLang="ko-KR" sz="2300" dirty="0"/>
              <a:t>CNN(</a:t>
            </a:r>
            <a:r>
              <a:rPr lang="en-US" altLang="ko-KR" sz="2300" b="0" i="0" dirty="0">
                <a:solidFill>
                  <a:srgbClr val="4D5156"/>
                </a:solidFill>
                <a:effectLst/>
                <a:latin typeface="Apple SD Gothic Neo"/>
              </a:rPr>
              <a:t>convolutional neural network </a:t>
            </a:r>
            <a:r>
              <a:rPr lang="en-US" altLang="ko-KR" sz="2300" dirty="0"/>
              <a:t>)</a:t>
            </a:r>
            <a:r>
              <a:rPr lang="ko-KR" altLang="en-US" sz="2300" dirty="0"/>
              <a:t>을 이용한 방식</a:t>
            </a:r>
            <a:endParaRPr lang="en-US" altLang="ko-KR" sz="23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2300" dirty="0"/>
              <a:t>초기 </a:t>
            </a:r>
            <a:r>
              <a:rPr lang="ko-KR" altLang="en-US" sz="2300" dirty="0" err="1"/>
              <a:t>예측값을</a:t>
            </a:r>
            <a:r>
              <a:rPr lang="ko-KR" altLang="en-US" sz="2300" dirty="0"/>
              <a:t> 기준으로 복수의 네트워크를 통해 결과 보정</a:t>
            </a:r>
            <a:endParaRPr lang="en-US" altLang="ko-KR" sz="23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2300" dirty="0"/>
              <a:t>총 </a:t>
            </a:r>
            <a:r>
              <a:rPr lang="en-US" altLang="ko-KR" sz="2300" dirty="0"/>
              <a:t>5</a:t>
            </a:r>
            <a:r>
              <a:rPr lang="ko-KR" altLang="en-US" sz="2300" dirty="0"/>
              <a:t>개의 랜드마크 값 추출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318484E-E5A2-4AC8-9D28-B09D8ADAEA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9072" y="3385942"/>
            <a:ext cx="11822245" cy="3472058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66DD93-5D48-43B9-8090-F15E64C6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488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18BF2-7B46-4F5A-B227-ED26ACDB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31" y="368216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000" dirty="0"/>
              <a:t>2. </a:t>
            </a:r>
            <a:r>
              <a:rPr lang="ko-KR" altLang="en-US" sz="3000" dirty="0"/>
              <a:t>얼굴 랜드마크 검출 </a:t>
            </a:r>
            <a:r>
              <a:rPr lang="en-US" altLang="ko-KR" sz="3000" dirty="0"/>
              <a:t>– </a:t>
            </a:r>
            <a:r>
              <a:rPr lang="ko-KR" altLang="en-US" sz="3000" dirty="0"/>
              <a:t>방법 </a:t>
            </a:r>
            <a:r>
              <a:rPr lang="en-US" altLang="ko-KR" sz="3000" dirty="0"/>
              <a:t>2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CD246E-9E22-41E9-ACF6-ECB8DD84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70483"/>
            <a:ext cx="10391274" cy="322446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2014</a:t>
            </a:r>
            <a:r>
              <a:rPr lang="ko-KR" altLang="en-US" sz="2000" dirty="0"/>
              <a:t>년 </a:t>
            </a:r>
            <a:r>
              <a:rPr lang="en-US" altLang="ko-KR" sz="2000" dirty="0"/>
              <a:t>ECCV</a:t>
            </a:r>
            <a:r>
              <a:rPr lang="ko-KR" altLang="en-US" sz="2000" dirty="0"/>
              <a:t>에서 발표된 방법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Local</a:t>
            </a:r>
            <a:r>
              <a:rPr lang="ko-KR" altLang="en-US" sz="2000" dirty="0"/>
              <a:t> </a:t>
            </a:r>
            <a:r>
              <a:rPr lang="en-US" altLang="ko-KR" sz="2000" dirty="0"/>
              <a:t>minimum</a:t>
            </a:r>
            <a:r>
              <a:rPr lang="ko-KR" altLang="en-US" sz="2000" dirty="0"/>
              <a:t>에 빠지는 것을 방지하기 위해 영상 크기에 따른 순차적 검출 결과 유도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/>
              <a:t>50*50 </a:t>
            </a:r>
            <a:r>
              <a:rPr lang="ko-KR" altLang="en-US" sz="2000" dirty="0"/>
              <a:t>영상에서 </a:t>
            </a:r>
            <a:r>
              <a:rPr lang="en-US" altLang="ko-KR" sz="2000" dirty="0"/>
              <a:t>68 </a:t>
            </a:r>
            <a:r>
              <a:rPr lang="ko-KR" altLang="en-US" sz="2000" dirty="0"/>
              <a:t>포인트의 랜드마크를 검출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많은 랜드마크를 통해 감정</a:t>
            </a:r>
            <a:r>
              <a:rPr lang="en-US" altLang="ko-KR" sz="2000" dirty="0"/>
              <a:t>, </a:t>
            </a:r>
            <a:r>
              <a:rPr lang="ko-KR" altLang="en-US" sz="2000" dirty="0"/>
              <a:t>표정</a:t>
            </a:r>
            <a:r>
              <a:rPr lang="en-US" altLang="ko-KR" sz="2000" dirty="0"/>
              <a:t>, </a:t>
            </a:r>
            <a:r>
              <a:rPr lang="ko-KR" altLang="en-US" sz="2000" dirty="0"/>
              <a:t>머리 방향 등을 검출할 수 있음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C2139B-3FBC-447D-8A44-7C2CC4855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1012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50937" y="211388"/>
            <a:ext cx="10515600" cy="132556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3000"/>
              <a:t>2. </a:t>
            </a:r>
            <a:r>
              <a:rPr lang="ko-KR" altLang="en-US" sz="3000"/>
              <a:t>얼굴 랜드마크 검출 </a:t>
            </a:r>
            <a:r>
              <a:rPr lang="en-US" altLang="ko-KR" sz="3000"/>
              <a:t>– </a:t>
            </a:r>
            <a:r>
              <a:rPr lang="ko-KR" altLang="en-US" sz="3000"/>
              <a:t>방법 </a:t>
            </a:r>
            <a:r>
              <a:rPr lang="en-US" altLang="ko-KR" sz="3000"/>
              <a:t>2</a:t>
            </a:r>
            <a:endParaRPr lang="ko-KR" altLang="en-US" sz="30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922686" y="1243999"/>
            <a:ext cx="9182463" cy="5614001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93916A-2C3D-4EE7-BF66-5BB19348E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9</a:t>
            </a:fld>
            <a:endParaRPr lang="ko-KR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18BF2-7B46-4F5A-B227-ED26ACDB6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448" y="-87832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000" dirty="0"/>
              <a:t>3. </a:t>
            </a:r>
            <a:r>
              <a:rPr lang="ko-KR" altLang="en-US" sz="3000" dirty="0"/>
              <a:t>얼굴 인식</a:t>
            </a:r>
            <a:r>
              <a:rPr lang="en-US" altLang="ko-KR" sz="3000" dirty="0"/>
              <a:t>(deep</a:t>
            </a:r>
            <a:r>
              <a:rPr lang="ko-KR" altLang="en-US" sz="3000" dirty="0"/>
              <a:t> </a:t>
            </a:r>
            <a:r>
              <a:rPr lang="en-US" altLang="ko-KR" sz="3000" dirty="0"/>
              <a:t>face1)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CD246E-9E22-41E9-ACF6-ECB8DD84E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74" y="964414"/>
            <a:ext cx="9168250" cy="109746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  <a:buFontTx/>
              <a:buChar char="-"/>
            </a:pPr>
            <a:r>
              <a:rPr lang="en-US" altLang="ko-KR" sz="2300" dirty="0"/>
              <a:t>4</a:t>
            </a:r>
            <a:r>
              <a:rPr lang="ko-KR" altLang="en-US" sz="2300" dirty="0"/>
              <a:t>백만개의 얼굴영상을 </a:t>
            </a:r>
            <a:r>
              <a:rPr lang="en-US" altLang="ko-KR" sz="2300" dirty="0"/>
              <a:t>8</a:t>
            </a:r>
            <a:r>
              <a:rPr lang="ko-KR" altLang="en-US" sz="2300" dirty="0"/>
              <a:t>개의 </a:t>
            </a:r>
            <a:r>
              <a:rPr lang="en-US" altLang="ko-KR" sz="2300" dirty="0"/>
              <a:t>layer</a:t>
            </a:r>
            <a:r>
              <a:rPr lang="ko-KR" altLang="en-US" sz="2300" dirty="0"/>
              <a:t>로 구성된 네트워크에서 학습</a:t>
            </a:r>
            <a:endParaRPr lang="en-US" altLang="ko-KR" sz="23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2300" dirty="0"/>
              <a:t>얼굴이 돌아간 경우 성능 하락의 단점</a:t>
            </a:r>
            <a:endParaRPr lang="en-US" altLang="ko-KR" sz="2300" dirty="0"/>
          </a:p>
          <a:p>
            <a:pPr>
              <a:lnSpc>
                <a:spcPct val="150000"/>
              </a:lnSpc>
              <a:buFontTx/>
              <a:buChar char="-"/>
            </a:pPr>
            <a:endParaRPr lang="ko-KR" altLang="en-US" sz="23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B7323DB-9602-4657-8611-E176B799DFAF}"/>
              </a:ext>
            </a:extLst>
          </p:cNvPr>
          <p:cNvSpPr txBox="1">
            <a:spLocks/>
          </p:cNvSpPr>
          <p:nvPr/>
        </p:nvSpPr>
        <p:spPr>
          <a:xfrm>
            <a:off x="477774" y="3688472"/>
            <a:ext cx="9329024" cy="2666926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2300" dirty="0"/>
              <a:t>Deep face1</a:t>
            </a:r>
            <a:r>
              <a:rPr lang="ko-KR" altLang="en-US" sz="2300" dirty="0"/>
              <a:t>의 성능을 보완한 것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ko-KR" altLang="en-US" sz="2300" dirty="0"/>
              <a:t>칼라영상 </a:t>
            </a:r>
            <a:r>
              <a:rPr lang="en-US" altLang="ko-KR" sz="2300" dirty="0"/>
              <a:t>/ 55*47</a:t>
            </a:r>
            <a:r>
              <a:rPr lang="ko-KR" altLang="en-US" sz="2300" dirty="0"/>
              <a:t>픽셀 사용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2300" dirty="0" err="1"/>
              <a:t>softmax</a:t>
            </a:r>
            <a:r>
              <a:rPr lang="en-US" altLang="ko-KR" sz="2300" dirty="0"/>
              <a:t> loss - identification loss</a:t>
            </a:r>
            <a:r>
              <a:rPr lang="ko-KR" altLang="en-US" sz="2300" dirty="0"/>
              <a:t>라 가정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en-US" altLang="ko-KR" sz="2300" dirty="0" err="1"/>
              <a:t>euclidean</a:t>
            </a:r>
            <a:r>
              <a:rPr lang="en-US" altLang="ko-KR" sz="2300" dirty="0"/>
              <a:t> loss - verification loss</a:t>
            </a:r>
            <a:r>
              <a:rPr lang="ko-KR" altLang="en-US" sz="2300" dirty="0"/>
              <a:t>라 가정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ko-KR" altLang="en-US" sz="2300" dirty="0"/>
              <a:t>두 가정으로 </a:t>
            </a:r>
            <a:r>
              <a:rPr lang="en-US" altLang="ko-KR" sz="2300" dirty="0"/>
              <a:t>multi task</a:t>
            </a:r>
            <a:r>
              <a:rPr lang="ko-KR" altLang="en-US" sz="2300" dirty="0"/>
              <a:t> 학습기법 제시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r>
              <a:rPr lang="ko-KR" altLang="en-US" sz="2300" dirty="0"/>
              <a:t>최종 </a:t>
            </a:r>
            <a:r>
              <a:rPr lang="en-US" altLang="ko-KR" sz="2300" dirty="0"/>
              <a:t>98.97%</a:t>
            </a:r>
            <a:r>
              <a:rPr lang="ko-KR" altLang="en-US" sz="2300" dirty="0"/>
              <a:t>의 성능</a:t>
            </a:r>
          </a:p>
          <a:p>
            <a:pPr>
              <a:lnSpc>
                <a:spcPct val="150000"/>
              </a:lnSpc>
              <a:buFontTx/>
              <a:buChar char="-"/>
              <a:defRPr/>
            </a:pPr>
            <a:endParaRPr lang="ko-KR" altLang="en-US" sz="2300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A52E180D-22D5-4135-A2AB-B40B4162E4F6}"/>
              </a:ext>
            </a:extLst>
          </p:cNvPr>
          <p:cNvSpPr txBox="1">
            <a:spLocks/>
          </p:cNvSpPr>
          <p:nvPr/>
        </p:nvSpPr>
        <p:spPr>
          <a:xfrm>
            <a:off x="353448" y="236290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ko-KR" sz="3000" dirty="0"/>
              <a:t>deep</a:t>
            </a:r>
            <a:r>
              <a:rPr lang="ko-KR" altLang="en-US" sz="3000" dirty="0"/>
              <a:t> </a:t>
            </a:r>
            <a:r>
              <a:rPr lang="en-US" altLang="ko-KR" sz="3000" dirty="0"/>
              <a:t>face2</a:t>
            </a:r>
            <a:endParaRPr lang="ko-KR" altLang="en-US" sz="30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D86DB4C-15C4-45BB-AAA2-A70397F204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3794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F4882-2513-45D9-A1F8-E78A88CF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7007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2. </a:t>
            </a:r>
            <a:r>
              <a:rPr lang="ko-KR" altLang="en-US" dirty="0"/>
              <a:t>신원 파악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152C98-56D5-4BFE-A79F-12CC040C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34919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675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B53EB9-C4F9-4687-BFB2-A85D250DD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복잡한 배경화면에서 얼굴 영역 탐지를 위한 기존 연구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4C58AF-0624-4362-B705-CD276F71F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sz="2000" dirty="0"/>
              <a:t>1. </a:t>
            </a:r>
            <a:r>
              <a:rPr lang="ko-KR" altLang="en-US" sz="2000" dirty="0"/>
              <a:t>에지 정보를 이용한 방법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-&gt; </a:t>
            </a:r>
            <a:r>
              <a:rPr lang="ko-KR" altLang="en-US" sz="2000" dirty="0"/>
              <a:t>이진화 과정을 거쳐야함으로 조명이 불 균일하면 데이터 손상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2. </a:t>
            </a:r>
            <a:r>
              <a:rPr lang="ko-KR" altLang="en-US" sz="2000" dirty="0"/>
              <a:t>템플릿 매칭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-&gt; </a:t>
            </a:r>
            <a:r>
              <a:rPr lang="ko-KR" altLang="en-US" sz="2000" dirty="0"/>
              <a:t>얼굴 전체를 특징으로 잡는 방법으로서 스케일이 크거나 각 구성요소를 추출하기에는 비효율적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3. </a:t>
            </a:r>
            <a:r>
              <a:rPr lang="ko-KR" altLang="en-US" sz="2000" dirty="0"/>
              <a:t>주성분 분석법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-&gt; </a:t>
            </a:r>
            <a:r>
              <a:rPr lang="ko-KR" altLang="en-US" sz="2000" dirty="0"/>
              <a:t>실시간 구현을 할 수 있지만 영역분리와 배경영상에 민감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4.</a:t>
            </a:r>
            <a:r>
              <a:rPr lang="ko-KR" altLang="en-US" sz="2000" dirty="0"/>
              <a:t> 신경망을 이용한 방법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-&gt; </a:t>
            </a:r>
            <a:r>
              <a:rPr lang="ko-KR" altLang="en-US" sz="2000" dirty="0"/>
              <a:t>정해진 조건하에는 작동이 잘되지만 새로운 변수가 있을 때 네트워크 변수의 조정이 어렵고 시간이 오래 걸림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A84ED4-35C2-4215-9FB2-1568D50FE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98711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976C-124B-4696-8109-A8A6E44C6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새로운 신원확인 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F68989-01A6-42AB-8669-FB29567CF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z="1800" dirty="0"/>
              <a:t>국부적인 조명의 변화에 강인한 얼굴영역 탐지방법과 얼굴의 크기와 기울기 변화에 구애 받지 않는 얼굴 주요</a:t>
            </a:r>
            <a:r>
              <a:rPr lang="en-US" altLang="ko-KR" sz="1800" dirty="0"/>
              <a:t> </a:t>
            </a:r>
            <a:r>
              <a:rPr lang="ko-KR" altLang="en-US" sz="1800" dirty="0"/>
              <a:t>구성 요소 추출 방법 제안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en-US" altLang="ko-KR" sz="1800" dirty="0"/>
              <a:t>-&gt; </a:t>
            </a:r>
            <a:r>
              <a:rPr lang="ko-KR" altLang="en-US" sz="1800" dirty="0"/>
              <a:t>그 방법은 </a:t>
            </a:r>
            <a:r>
              <a:rPr lang="ko-KR" altLang="en-US" sz="1800" dirty="0" err="1"/>
              <a:t>움직임량에</a:t>
            </a:r>
            <a:r>
              <a:rPr lang="ko-KR" altLang="en-US" sz="1800" dirty="0"/>
              <a:t> 기반한 </a:t>
            </a:r>
            <a:r>
              <a:rPr lang="ko-KR" altLang="en-US" sz="1800" dirty="0" err="1"/>
              <a:t>차영상</a:t>
            </a:r>
            <a:r>
              <a:rPr lang="ko-KR" altLang="en-US" sz="1800" dirty="0"/>
              <a:t> 기법으로서 얼굴 영역을 검출하고 가변적으로 설정된 각 블록영역 간의 화소 평균값 편차를 이용해 눈 영역을 추출 후 두 눈의 위치를 이용해 얼굴 기울기 보정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r>
              <a:rPr lang="ko-KR" altLang="en-US" sz="1800" dirty="0"/>
              <a:t>얼굴 구성요소에 대한 기하학적 위치 관계에 기반해 가변 </a:t>
            </a:r>
            <a:r>
              <a:rPr lang="en-US" altLang="ko-KR" sz="1800" dirty="0"/>
              <a:t>Ratio Template</a:t>
            </a:r>
            <a:r>
              <a:rPr lang="ko-KR" altLang="en-US" sz="1800" dirty="0"/>
              <a:t>를 이용해 검출된 얼굴 영역을 검증해 각 특징 요소들을 추출</a:t>
            </a:r>
          </a:p>
        </p:txBody>
      </p:sp>
      <p:pic>
        <p:nvPicPr>
          <p:cNvPr id="4" name="내용 개체 틀 4">
            <a:extLst>
              <a:ext uri="{FF2B5EF4-FFF2-40B4-BE49-F238E27FC236}">
                <a16:creationId xmlns:a16="http://schemas.microsoft.com/office/drawing/2014/main" id="{5F0B6AD1-5B39-4A93-A87E-C2E2F19A2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384" y="4897314"/>
            <a:ext cx="5087060" cy="885949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3ED2A8-AD46-4E91-AF7A-2BF8D730B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615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7DD99-225C-4BA9-A6D8-6A307366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얼굴 영역의 추출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88CD8-C391-4F24-A46C-C4BACC108B5D}"/>
              </a:ext>
            </a:extLst>
          </p:cNvPr>
          <p:cNvSpPr txBox="1"/>
          <p:nvPr/>
        </p:nvSpPr>
        <p:spPr>
          <a:xfrm>
            <a:off x="740529" y="1872084"/>
            <a:ext cx="1094126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차 영상 산출 </a:t>
            </a:r>
            <a:r>
              <a:rPr lang="en-US" altLang="ko-KR" dirty="0"/>
              <a:t>: </a:t>
            </a:r>
            <a:r>
              <a:rPr lang="ko-KR" altLang="en-US" dirty="0"/>
              <a:t>사용자가 연속적으로 시스템 조작 버튼을 누르는 순간 두 프레임 간의 차영상에서 움직임 벡터 량을 구하여 임계치보다 클 경우 얼굴이 있다고  판단하여 얼굴 영역을 탐지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1-1. </a:t>
            </a:r>
            <a:r>
              <a:rPr lang="ko-KR" altLang="en-US" dirty="0"/>
              <a:t>두 프레임 간의 변화 가능성 비율을 산출하는 공식은 다음과 같음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 식에서 </a:t>
            </a:r>
            <a:r>
              <a:rPr lang="en-US" altLang="ko-KR" b="0" i="0" dirty="0">
                <a:solidFill>
                  <a:srgbClr val="202124"/>
                </a:solidFill>
                <a:effectLst/>
                <a:latin typeface="Apple SD Gothic Neo"/>
              </a:rPr>
              <a:t>µ</a:t>
            </a:r>
            <a:r>
              <a:rPr lang="ko-KR" altLang="en-US" b="0" i="0" dirty="0">
                <a:solidFill>
                  <a:srgbClr val="202124"/>
                </a:solidFill>
                <a:effectLst/>
                <a:latin typeface="Apple SD Gothic Neo"/>
              </a:rPr>
              <a:t>는 영상 프레임에서 샘플 영역에 대한 평균값이고</a:t>
            </a:r>
            <a:r>
              <a:rPr lang="en-US" altLang="ko-KR" b="0" i="0" dirty="0">
                <a:solidFill>
                  <a:srgbClr val="202124"/>
                </a:solidFill>
                <a:effectLst/>
                <a:latin typeface="Apple SD Gothic Neo"/>
              </a:rPr>
              <a:t>,  </a:t>
            </a:r>
            <a:r>
              <a:rPr lang="el-GR" altLang="ko-KR" b="0" i="0" dirty="0">
                <a:solidFill>
                  <a:srgbClr val="202124"/>
                </a:solidFill>
                <a:effectLst/>
                <a:latin typeface="Apple SD Gothic Neo"/>
              </a:rPr>
              <a:t>σ</a:t>
            </a:r>
            <a:r>
              <a:rPr lang="ko-KR" altLang="en-US" b="0" i="0" dirty="0">
                <a:solidFill>
                  <a:srgbClr val="202124"/>
                </a:solidFill>
                <a:effectLst/>
                <a:latin typeface="Apple SD Gothic Neo"/>
              </a:rPr>
              <a:t>는 표준편차 이다</a:t>
            </a:r>
            <a:r>
              <a:rPr lang="en-US" altLang="ko-KR" b="0" i="0" dirty="0">
                <a:solidFill>
                  <a:srgbClr val="202124"/>
                </a:solidFill>
                <a:effectLst/>
                <a:latin typeface="Apple SD Gothic Neo"/>
              </a:rPr>
              <a:t>. </a:t>
            </a:r>
            <a:r>
              <a:rPr lang="ko-KR" altLang="en-US" b="0" i="0" dirty="0">
                <a:solidFill>
                  <a:srgbClr val="202124"/>
                </a:solidFill>
                <a:effectLst/>
                <a:latin typeface="Apple SD Gothic Neo"/>
              </a:rPr>
              <a:t>산출된 </a:t>
            </a:r>
            <a:r>
              <a:rPr lang="el-GR" altLang="ko-KR" b="0" i="0" dirty="0">
                <a:solidFill>
                  <a:srgbClr val="202124"/>
                </a:solidFill>
                <a:effectLst/>
                <a:latin typeface="Apple SD Gothic Neo"/>
              </a:rPr>
              <a:t>λ</a:t>
            </a:r>
            <a:r>
              <a:rPr lang="ko-KR" altLang="en-US" b="0" i="0" dirty="0">
                <a:solidFill>
                  <a:srgbClr val="202124"/>
                </a:solidFill>
                <a:effectLst/>
                <a:latin typeface="Apple SD Gothic Neo"/>
              </a:rPr>
              <a:t>값은 임계치 </a:t>
            </a:r>
            <a:r>
              <a:rPr lang="el-GR" altLang="ko-KR" b="0" i="0" dirty="0">
                <a:solidFill>
                  <a:srgbClr val="202124"/>
                </a:solidFill>
                <a:effectLst/>
                <a:latin typeface="Apple SD Gothic Neo"/>
              </a:rPr>
              <a:t> τ</a:t>
            </a:r>
            <a:r>
              <a:rPr lang="ko-KR" altLang="en-US" b="0" i="0" dirty="0">
                <a:solidFill>
                  <a:srgbClr val="202124"/>
                </a:solidFill>
                <a:effectLst/>
                <a:latin typeface="Apple SD Gothic Neo"/>
              </a:rPr>
              <a:t>는 </a:t>
            </a:r>
            <a:r>
              <a:rPr lang="en-US" altLang="ko-KR" b="0" i="0" dirty="0">
                <a:solidFill>
                  <a:srgbClr val="202124"/>
                </a:solidFill>
                <a:effectLst/>
                <a:latin typeface="Apple SD Gothic Neo"/>
              </a:rPr>
              <a:t>20, </a:t>
            </a:r>
            <a:r>
              <a:rPr lang="ko-KR" altLang="en-US" b="0" i="0" dirty="0">
                <a:solidFill>
                  <a:srgbClr val="202124"/>
                </a:solidFill>
                <a:effectLst/>
                <a:latin typeface="Apple SD Gothic Neo"/>
              </a:rPr>
              <a:t>전체 영상에서의 얼굴 존재 유무를 판정하는 전체 변화 픽셀 개수 임계치는 </a:t>
            </a:r>
            <a:r>
              <a:rPr lang="en-US" altLang="ko-KR" b="0" i="0" dirty="0">
                <a:solidFill>
                  <a:srgbClr val="202124"/>
                </a:solidFill>
                <a:effectLst/>
                <a:latin typeface="Apple SD Gothic Neo"/>
              </a:rPr>
              <a:t>2000</a:t>
            </a:r>
            <a:r>
              <a:rPr lang="ko-KR" altLang="en-US" b="0" i="0" dirty="0">
                <a:solidFill>
                  <a:srgbClr val="202124"/>
                </a:solidFill>
                <a:effectLst/>
                <a:latin typeface="Apple SD Gothic Neo"/>
              </a:rPr>
              <a:t>으로 선정함</a:t>
            </a:r>
            <a:r>
              <a:rPr lang="en-US" altLang="ko-KR" b="0" i="0" dirty="0">
                <a:solidFill>
                  <a:srgbClr val="202124"/>
                </a:solidFill>
                <a:effectLst/>
                <a:latin typeface="Apple SD Gothic Neo"/>
              </a:rPr>
              <a:t>.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3110983-8959-4B3B-BDAA-2C7E7CFD2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684" y="3254610"/>
            <a:ext cx="2924583" cy="1171739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876089-2A72-4B1B-A819-85B57EDE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6212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87DD99-225C-4BA9-A6D8-6A3073660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얼굴 영역의 추출 방법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88CD8-C391-4F24-A46C-C4BACC108B5D}"/>
              </a:ext>
            </a:extLst>
          </p:cNvPr>
          <p:cNvSpPr txBox="1"/>
          <p:nvPr/>
        </p:nvSpPr>
        <p:spPr>
          <a:xfrm>
            <a:off x="662152" y="1911273"/>
            <a:ext cx="109412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2.  </a:t>
            </a:r>
            <a:r>
              <a:rPr lang="ko-KR" altLang="en-US" dirty="0"/>
              <a:t>영역 확장 및 얼굴 영역 추출 </a:t>
            </a:r>
            <a:r>
              <a:rPr lang="en-US" altLang="ko-KR" dirty="0"/>
              <a:t>:  </a:t>
            </a:r>
            <a:r>
              <a:rPr lang="ko-KR" altLang="en-US" dirty="0"/>
              <a:t>차영상에서 추출된 픽셀 영역을 확장하는데 얼굴의 수평길이의 정확도를 높이기 위해서 수직방향으로 픽셀의 영역을 확장함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6986C6F-CCFF-4A70-B85C-4294646822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3481"/>
          <a:stretch/>
        </p:blipFill>
        <p:spPr>
          <a:xfrm>
            <a:off x="3605649" y="2841134"/>
            <a:ext cx="4587216" cy="29174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12DC9F-A11B-45ED-BA15-0D96D80938AC}"/>
              </a:ext>
            </a:extLst>
          </p:cNvPr>
          <p:cNvSpPr txBox="1"/>
          <p:nvPr/>
        </p:nvSpPr>
        <p:spPr>
          <a:xfrm>
            <a:off x="1482994" y="5913220"/>
            <a:ext cx="9669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위 그림은 얼굴 영역 추출 결과로써 </a:t>
            </a:r>
            <a:r>
              <a:rPr lang="en-US" altLang="ko-KR" dirty="0"/>
              <a:t>(a) </a:t>
            </a:r>
            <a:r>
              <a:rPr lang="ko-KR" altLang="en-US" dirty="0"/>
              <a:t>원영상 </a:t>
            </a:r>
            <a:r>
              <a:rPr lang="en-US" altLang="ko-KR" dirty="0"/>
              <a:t>(b) </a:t>
            </a:r>
            <a:r>
              <a:rPr lang="ko-KR" altLang="en-US" dirty="0"/>
              <a:t>영역확장 영상 </a:t>
            </a:r>
            <a:r>
              <a:rPr lang="en-US" altLang="ko-KR" dirty="0"/>
              <a:t>(c) </a:t>
            </a:r>
            <a:r>
              <a:rPr lang="ko-KR" altLang="en-US" dirty="0"/>
              <a:t>얼굴 추출 결과 영상 임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86391-7ABC-4C29-B75C-07DA7B529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5476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D2D51-A2A2-4472-82D0-9AA07DE5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얼굴 영역의 추출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683B1-B43B-434D-A2C6-A6B3D0B08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5000" cy="3155688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/>
              <a:t>3. </a:t>
            </a:r>
            <a:r>
              <a:rPr lang="ko-KR" altLang="en-US" sz="1800" dirty="0"/>
              <a:t>구성 요소 영역 추출 </a:t>
            </a:r>
            <a:r>
              <a:rPr lang="en-US" altLang="ko-KR" sz="1800" dirty="0"/>
              <a:t>: </a:t>
            </a:r>
            <a:r>
              <a:rPr lang="ko-KR" altLang="en-US" sz="1800" dirty="0"/>
              <a:t>주요 얼굴 구성 요소인 눈</a:t>
            </a:r>
            <a:r>
              <a:rPr lang="en-US" altLang="ko-KR" sz="1800" dirty="0"/>
              <a:t>, </a:t>
            </a:r>
            <a:r>
              <a:rPr lang="ko-KR" altLang="en-US" sz="1800" dirty="0"/>
              <a:t>코</a:t>
            </a:r>
            <a:r>
              <a:rPr lang="en-US" altLang="ko-KR" sz="1800" dirty="0"/>
              <a:t>, </a:t>
            </a:r>
            <a:r>
              <a:rPr lang="ko-KR" altLang="en-US" sz="1800" dirty="0"/>
              <a:t>입 영역 검출 한다</a:t>
            </a:r>
            <a:r>
              <a:rPr lang="en-US" altLang="ko-KR" sz="1800" dirty="0"/>
              <a:t>. </a:t>
            </a:r>
            <a:r>
              <a:rPr lang="ko-KR" altLang="en-US" sz="1800" dirty="0"/>
              <a:t>두 눈 영역의 위치를 찾고 얼굴의 기울기를 조정 후 나머지 구성 요소 영역 추출 및 검증 과정 진행</a:t>
            </a:r>
            <a:endParaRPr lang="en-US" altLang="ko-KR" sz="1800" dirty="0"/>
          </a:p>
          <a:p>
            <a:pPr marL="0" indent="0">
              <a:lnSpc>
                <a:spcPct val="120000"/>
              </a:lnSpc>
              <a:buNone/>
            </a:pPr>
            <a:endParaRPr lang="en-US" altLang="ko-KR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/>
              <a:t>3-1. </a:t>
            </a:r>
            <a:r>
              <a:rPr lang="ko-KR" altLang="en-US" sz="1800" dirty="0"/>
              <a:t>눈 영역 추출 </a:t>
            </a:r>
            <a:r>
              <a:rPr lang="en-US" altLang="ko-KR" sz="1800" dirty="0"/>
              <a:t>: </a:t>
            </a:r>
            <a:r>
              <a:rPr lang="ko-KR" altLang="en-US" sz="1800" dirty="0"/>
              <a:t>눈을 먼저 검출하는 이유는 대부분 얼굴은 공통적으로 눈 동자에 검은 화소들이 밀집해 있어 눈 주위영역이 뚜렷하게 어둡게 나타나 검출에 용이 하기 때문 </a:t>
            </a:r>
            <a:endParaRPr lang="en-US" altLang="ko-KR" sz="1800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/>
              <a:t>눈 영역 검출 알고리즘</a:t>
            </a:r>
            <a:r>
              <a:rPr lang="en-US" altLang="ko-KR" sz="1800" dirty="0"/>
              <a:t>: </a:t>
            </a:r>
            <a:r>
              <a:rPr lang="ko-KR" altLang="en-US" sz="1800" dirty="0"/>
              <a:t>그레이 레벨상에서 진행하되 </a:t>
            </a:r>
            <a:r>
              <a:rPr lang="en-US" altLang="ko-KR" sz="1800" dirty="0"/>
              <a:t>3</a:t>
            </a:r>
            <a:r>
              <a:rPr lang="ko-KR" altLang="en-US" sz="1800" dirty="0"/>
              <a:t>가지 조건에 따라 블록처리 진행</a:t>
            </a:r>
            <a:endParaRPr lang="en-US" altLang="ko-KR" sz="1800" dirty="0"/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ko-KR" altLang="en-US" sz="1800" dirty="0"/>
              <a:t>눈 영역은 주위영역보다 명도치가 낮다</a:t>
            </a:r>
            <a:r>
              <a:rPr lang="en-US" altLang="ko-KR" sz="1800" dirty="0"/>
              <a:t>.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ko-KR" altLang="en-US" sz="1800" dirty="0"/>
              <a:t>주위 영역과의 밝기차가 임계치 이상이 되어야 한다</a:t>
            </a:r>
            <a:r>
              <a:rPr lang="en-US" altLang="ko-KR" sz="1800" dirty="0"/>
              <a:t>.</a:t>
            </a: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ko-KR" altLang="en-US" sz="1800" dirty="0"/>
              <a:t>눈 영역 아래 부분은 비교적 밝은 영역으로 구성되어 있다</a:t>
            </a:r>
            <a:r>
              <a:rPr lang="en-US" altLang="ko-KR" sz="1800" dirty="0"/>
              <a:t>.</a:t>
            </a:r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AB8B622-1C4B-4FC7-A1A6-50BE13652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877" y="4616188"/>
            <a:ext cx="4820323" cy="1876687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61EB82-8066-4B1B-BF85-02661E4A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2560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D2D51-A2A2-4472-82D0-9AA07DE55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얼굴 영역의 추출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8683B1-B43B-434D-A2C6-A6B3D0B08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95000" cy="3155688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altLang="ko-KR" sz="1800" dirty="0"/>
              <a:t>3-2 </a:t>
            </a:r>
            <a:r>
              <a:rPr lang="ko-KR" altLang="en-US" sz="1800" dirty="0"/>
              <a:t>기울기 조정</a:t>
            </a:r>
            <a:r>
              <a:rPr lang="en-US" altLang="ko-KR" sz="1800" dirty="0"/>
              <a:t>: </a:t>
            </a:r>
            <a:r>
              <a:rPr lang="ko-KR" altLang="en-US" sz="1800" dirty="0"/>
              <a:t>눈 영역 이외의 영역 추출 시 사전의 얼굴의 기하학적 사전지식에 따라 눈영역과의 위치 관계를 이용</a:t>
            </a:r>
            <a:endParaRPr lang="en-US" altLang="ko-KR" sz="1800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/>
              <a:t>따라서 눈 영역 추출 후 기울기 조정을 하고 난 뒤 나머지 구성요소 검출 진행</a:t>
            </a:r>
            <a:endParaRPr lang="en-US" altLang="ko-KR" sz="1800" dirty="0"/>
          </a:p>
          <a:p>
            <a:pPr marL="0" indent="0">
              <a:lnSpc>
                <a:spcPct val="120000"/>
              </a:lnSpc>
              <a:buNone/>
            </a:pPr>
            <a:r>
              <a:rPr lang="ko-KR" altLang="en-US" sz="1800" dirty="0"/>
              <a:t>기울기 조정 알고리즘은 다음과 같음</a:t>
            </a:r>
            <a:r>
              <a:rPr lang="en-US" altLang="ko-KR" sz="18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pPr marL="0" indent="0">
              <a:buNone/>
            </a:pPr>
            <a:endParaRPr lang="ko-KR" altLang="en-US" sz="18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529EE4D-55F4-49BC-B794-2120CB8F8FC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763"/>
          <a:stretch/>
        </p:blipFill>
        <p:spPr>
          <a:xfrm>
            <a:off x="671175" y="4324039"/>
            <a:ext cx="4829849" cy="131454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22E1A5-CB16-4DFB-B488-2929A11538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6293"/>
          <a:stretch/>
        </p:blipFill>
        <p:spPr>
          <a:xfrm>
            <a:off x="6235700" y="4238238"/>
            <a:ext cx="4944165" cy="157985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21921A7-634F-4E49-864F-611A40765F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3831" y="5856381"/>
            <a:ext cx="4667901" cy="352474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347702-F427-46C1-BF97-CAE7CE3AE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958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6F147-6030-446B-903B-015368D98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2800" dirty="0"/>
              <a:t>얼굴 영역에 대한 검증과 얼굴 구성 요소 영역 추출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026F96-C22C-45B9-84E5-837182AB3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얼굴 영역 검증 및 기타 구성 요소 추출을 위해 아래 그림과</a:t>
            </a:r>
            <a:r>
              <a:rPr lang="en-US" altLang="ko-KR" sz="1800" dirty="0"/>
              <a:t> </a:t>
            </a:r>
            <a:r>
              <a:rPr lang="ko-KR" altLang="en-US" sz="1800" dirty="0"/>
              <a:t>같이 가변 </a:t>
            </a:r>
            <a:r>
              <a:rPr lang="en-US" altLang="ko-KR" sz="1800" dirty="0"/>
              <a:t>Ratio Template</a:t>
            </a:r>
            <a:r>
              <a:rPr lang="ko-KR" altLang="en-US" sz="1800" dirty="0"/>
              <a:t>을 설정하고 </a:t>
            </a:r>
            <a:r>
              <a:rPr lang="en-US" altLang="ko-KR" sz="1800" dirty="0"/>
              <a:t>Ratio Template</a:t>
            </a:r>
            <a:r>
              <a:rPr lang="ko-KR" altLang="en-US" sz="1800" dirty="0"/>
              <a:t>는 </a:t>
            </a:r>
            <a:r>
              <a:rPr lang="en-US" altLang="ko-KR" sz="1800" dirty="0"/>
              <a:t>7</a:t>
            </a:r>
            <a:r>
              <a:rPr lang="ko-KR" altLang="en-US" sz="1800" dirty="0"/>
              <a:t>개 의  </a:t>
            </a:r>
            <a:r>
              <a:rPr lang="en-US" altLang="ko-KR" sz="1800" dirty="0"/>
              <a:t>Region</a:t>
            </a:r>
            <a:r>
              <a:rPr lang="ko-KR" altLang="en-US" sz="1800" dirty="0"/>
              <a:t>과 </a:t>
            </a:r>
            <a:r>
              <a:rPr lang="en-US" altLang="ko-KR" sz="1800" dirty="0"/>
              <a:t>9</a:t>
            </a:r>
            <a:r>
              <a:rPr lang="ko-KR" altLang="en-US" sz="1800" dirty="0"/>
              <a:t>개의 </a:t>
            </a:r>
            <a:r>
              <a:rPr lang="en-US" altLang="ko-KR" sz="1800" dirty="0"/>
              <a:t>Relation</a:t>
            </a:r>
            <a:r>
              <a:rPr lang="ko-KR" altLang="en-US" sz="1800" dirty="0"/>
              <a:t>으로 구성 되며</a:t>
            </a:r>
            <a:r>
              <a:rPr lang="en-US" altLang="ko-KR" sz="1800" dirty="0"/>
              <a:t>, </a:t>
            </a:r>
            <a:r>
              <a:rPr lang="ko-KR" altLang="en-US" sz="1800" dirty="0"/>
              <a:t>각 </a:t>
            </a:r>
            <a:r>
              <a:rPr lang="en-US" altLang="ko-KR" sz="1800" dirty="0"/>
              <a:t>Region</a:t>
            </a:r>
            <a:r>
              <a:rPr lang="ko-KR" altLang="en-US" sz="1800" dirty="0"/>
              <a:t>의 크기는 검출된 두 눈 사이의 거리를 기준으로 가변적으로 생성됨</a:t>
            </a:r>
            <a:r>
              <a:rPr lang="en-US" altLang="ko-KR" sz="1800" dirty="0"/>
              <a:t>. </a:t>
            </a:r>
          </a:p>
          <a:p>
            <a:r>
              <a:rPr lang="ko-KR" altLang="en-US" sz="1800" dirty="0"/>
              <a:t>화살표로 표현되는 </a:t>
            </a:r>
            <a:r>
              <a:rPr lang="en-US" altLang="ko-KR" sz="1800" dirty="0"/>
              <a:t>Relation</a:t>
            </a:r>
            <a:r>
              <a:rPr lang="ko-KR" altLang="en-US" sz="1800" dirty="0"/>
              <a:t>은 밝은 영역에 대한 어두운 영역의 비율로서 화살표의 머리가 가리키는 영역이 어둡고</a:t>
            </a:r>
            <a:r>
              <a:rPr lang="en-US" altLang="ko-KR" sz="1800" dirty="0"/>
              <a:t>, </a:t>
            </a:r>
            <a:r>
              <a:rPr lang="ko-KR" altLang="en-US" sz="1800" dirty="0"/>
              <a:t>꼬리가 가리키는 영역이 밝을 때 그 </a:t>
            </a:r>
            <a:r>
              <a:rPr lang="en-US" altLang="ko-KR" sz="1800" dirty="0"/>
              <a:t>Relation</a:t>
            </a:r>
            <a:r>
              <a:rPr lang="ko-KR" altLang="en-US" sz="1800" dirty="0"/>
              <a:t>이 만족함</a:t>
            </a:r>
            <a:r>
              <a:rPr lang="en-US" altLang="ko-KR" sz="1800" dirty="0"/>
              <a:t>. </a:t>
            </a:r>
          </a:p>
          <a:p>
            <a:r>
              <a:rPr lang="en-US" altLang="ko-KR" sz="1800" dirty="0"/>
              <a:t>9</a:t>
            </a:r>
            <a:r>
              <a:rPr lang="ko-KR" altLang="en-US" sz="1800" dirty="0"/>
              <a:t>개의 </a:t>
            </a:r>
            <a:r>
              <a:rPr lang="en-US" altLang="ko-KR" sz="1800" dirty="0"/>
              <a:t>Relation</a:t>
            </a:r>
            <a:r>
              <a:rPr lang="ko-KR" altLang="en-US" sz="1800" dirty="0"/>
              <a:t>이 모두 만족될 때 검출된 얼굴 영역이 검증되고 나머지 구성 요소들의 영역을 추출할 수 있음</a:t>
            </a:r>
            <a:r>
              <a:rPr lang="en-US" altLang="ko-KR" sz="1800" dirty="0"/>
              <a:t>. </a:t>
            </a:r>
          </a:p>
          <a:p>
            <a:r>
              <a:rPr lang="ko-KR" altLang="en-US" sz="1800" dirty="0"/>
              <a:t>가변 </a:t>
            </a:r>
            <a:r>
              <a:rPr lang="en-US" altLang="ko-KR" sz="1800" dirty="0"/>
              <a:t>Ration Template</a:t>
            </a:r>
            <a:r>
              <a:rPr lang="ko-KR" altLang="en-US" sz="1800" dirty="0"/>
              <a:t>은 지역적인 밝기 차를 이용하므로 조명의 변화에 민감 하지 않으면서도 간단하고 정확하다는 장점을 갖고 있음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C9B79FF-C3A3-4AEB-9BDE-494DE1FD032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7148" b="17148"/>
          <a:stretch/>
        </p:blipFill>
        <p:spPr>
          <a:xfrm>
            <a:off x="4620666" y="4619879"/>
            <a:ext cx="2619741" cy="1762371"/>
          </a:xfrm>
          <a:prstGeom prst="rect">
            <a:avLst/>
          </a:prstGeom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78654A-5051-4C51-9DBA-62268C505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12624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DF4882-2513-45D9-A1F8-E78A88CF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7007"/>
            <a:ext cx="10515600" cy="1325563"/>
          </a:xfrm>
        </p:spPr>
        <p:txBody>
          <a:bodyPr/>
          <a:lstStyle/>
          <a:p>
            <a:pPr algn="ctr"/>
            <a:r>
              <a:rPr lang="en-US" altLang="ko-KR" dirty="0"/>
              <a:t>3. </a:t>
            </a:r>
            <a:r>
              <a:rPr lang="ko-KR" altLang="en-US" dirty="0"/>
              <a:t>화자 판별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E74DDEC-F9C7-45B3-8DE9-B9F272E4E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34919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7774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2F7EB6-A010-4604-8B27-FADBF8EB4DAB}"/>
              </a:ext>
            </a:extLst>
          </p:cNvPr>
          <p:cNvSpPr txBox="1"/>
          <p:nvPr/>
        </p:nvSpPr>
        <p:spPr>
          <a:xfrm>
            <a:off x="685799" y="742950"/>
            <a:ext cx="7400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스테레오 시청각 기반의 화자 검출 시스템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BB1A8-FCB2-4E9C-B7E2-86BDEED0FF59}"/>
              </a:ext>
            </a:extLst>
          </p:cNvPr>
          <p:cNvSpPr txBox="1"/>
          <p:nvPr/>
        </p:nvSpPr>
        <p:spPr>
          <a:xfrm>
            <a:off x="685797" y="1815829"/>
            <a:ext cx="74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400" dirty="0"/>
              <a:t>카메라를 활용한 </a:t>
            </a:r>
            <a:r>
              <a:rPr lang="ko-KR" altLang="en-US" sz="2400" dirty="0" err="1"/>
              <a:t>발화자</a:t>
            </a:r>
            <a:r>
              <a:rPr lang="ko-KR" altLang="en-US" sz="2400" dirty="0"/>
              <a:t> 후보 얼굴 검출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E0EF3C-C900-421B-AC0B-088CA233854B}"/>
              </a:ext>
            </a:extLst>
          </p:cNvPr>
          <p:cNvSpPr txBox="1"/>
          <p:nvPr/>
        </p:nvSpPr>
        <p:spPr>
          <a:xfrm>
            <a:off x="685797" y="2888708"/>
            <a:ext cx="74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/>
              <a:t>화자의 음성 정보를 바탕으로 음원 방향 추정</a:t>
            </a:r>
            <a:endParaRPr lang="en-US" altLang="ko-KR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341B57-04E2-4BD3-95D0-64A9BBCF2CBF}"/>
              </a:ext>
            </a:extLst>
          </p:cNvPr>
          <p:cNvSpPr txBox="1"/>
          <p:nvPr/>
        </p:nvSpPr>
        <p:spPr>
          <a:xfrm>
            <a:off x="685797" y="3961587"/>
            <a:ext cx="7400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3. </a:t>
            </a:r>
            <a:r>
              <a:rPr lang="ko-KR" altLang="en-US" sz="2400" dirty="0"/>
              <a:t>두 정보의 비교 분석을 통한 현재 </a:t>
            </a:r>
            <a:r>
              <a:rPr lang="ko-KR" altLang="en-US" sz="2400" dirty="0" err="1"/>
              <a:t>발화자</a:t>
            </a:r>
            <a:r>
              <a:rPr lang="ko-KR" altLang="en-US" sz="2400" dirty="0"/>
              <a:t> 검출</a:t>
            </a:r>
            <a:endParaRPr lang="en-US" altLang="ko-KR" sz="2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3B4DBC8-1507-47CC-807C-686012EAF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7120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2F7EB6-A010-4604-8B27-FADBF8EB4DAB}"/>
              </a:ext>
            </a:extLst>
          </p:cNvPr>
          <p:cNvSpPr txBox="1"/>
          <p:nvPr/>
        </p:nvSpPr>
        <p:spPr>
          <a:xfrm>
            <a:off x="685799" y="742950"/>
            <a:ext cx="740092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2300" dirty="0"/>
              <a:t>카메라를 활용한 </a:t>
            </a:r>
            <a:r>
              <a:rPr lang="ko-KR" altLang="en-US" sz="2300" dirty="0" err="1"/>
              <a:t>발화자</a:t>
            </a:r>
            <a:r>
              <a:rPr lang="ko-KR" altLang="en-US" sz="2300" dirty="0"/>
              <a:t> 후보 얼굴 검출</a:t>
            </a:r>
            <a:endParaRPr lang="en-US" altLang="ko-KR" sz="2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FB850-ED8D-4650-B354-779455602532}"/>
              </a:ext>
            </a:extLst>
          </p:cNvPr>
          <p:cNvSpPr txBox="1"/>
          <p:nvPr/>
        </p:nvSpPr>
        <p:spPr>
          <a:xfrm>
            <a:off x="1031995" y="1534121"/>
            <a:ext cx="6708531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00" dirty="0" err="1"/>
              <a:t>Haarlike</a:t>
            </a:r>
            <a:r>
              <a:rPr lang="ko-KR" altLang="en-US" sz="2100" dirty="0"/>
              <a:t> 특징 기반 </a:t>
            </a:r>
            <a:r>
              <a:rPr lang="en-US" altLang="ko-KR" sz="2100" dirty="0" err="1"/>
              <a:t>Adaboost</a:t>
            </a:r>
            <a:r>
              <a:rPr lang="en-US" altLang="ko-KR" sz="2100" dirty="0"/>
              <a:t> </a:t>
            </a:r>
            <a:r>
              <a:rPr lang="ko-KR" altLang="en-US" sz="2100" dirty="0"/>
              <a:t>알고리즘 사용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0832E-705D-4F1E-A58D-B7351BE5A98F}"/>
              </a:ext>
            </a:extLst>
          </p:cNvPr>
          <p:cNvSpPr txBox="1"/>
          <p:nvPr/>
        </p:nvSpPr>
        <p:spPr>
          <a:xfrm>
            <a:off x="1031995" y="2325292"/>
            <a:ext cx="106123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Adaboost</a:t>
            </a:r>
            <a:r>
              <a:rPr lang="ko-KR" altLang="en-US" dirty="0"/>
              <a:t> 알고리즘</a:t>
            </a:r>
            <a:r>
              <a:rPr lang="en-US" altLang="ko-KR" dirty="0"/>
              <a:t>: </a:t>
            </a:r>
            <a:r>
              <a:rPr lang="ko-KR" altLang="en-US" dirty="0"/>
              <a:t>간단한 학습 알고리즘들을 서로 다른 가중치를 두어 합하여</a:t>
            </a:r>
            <a:r>
              <a:rPr lang="en-US" altLang="ko-KR" dirty="0"/>
              <a:t>, </a:t>
            </a:r>
            <a:r>
              <a:rPr lang="ko-KR" altLang="en-US" dirty="0"/>
              <a:t>뛰어난 학습 알고리즘을 생성하는 것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Haar</a:t>
            </a:r>
            <a:r>
              <a:rPr lang="en-US" altLang="ko-KR" dirty="0"/>
              <a:t>-like: </a:t>
            </a:r>
            <a:r>
              <a:rPr lang="ko-KR" altLang="en-US" dirty="0"/>
              <a:t>얼굴 각 부위의 명암 특징을 이용하여</a:t>
            </a:r>
            <a:r>
              <a:rPr lang="en-US" altLang="ko-KR" dirty="0"/>
              <a:t>, </a:t>
            </a:r>
            <a:r>
              <a:rPr lang="ko-KR" altLang="en-US" dirty="0"/>
              <a:t>사람 얼굴의 특정 패턴 분석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B896A778-0BCB-4CAA-92E1-53EBC2B32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0526" y="3737699"/>
            <a:ext cx="3546876" cy="15861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93E1B91-A0EB-4847-A6BF-F3DF001119B8}"/>
              </a:ext>
            </a:extLst>
          </p:cNvPr>
          <p:cNvSpPr txBox="1"/>
          <p:nvPr/>
        </p:nvSpPr>
        <p:spPr>
          <a:xfrm>
            <a:off x="8317522" y="5411067"/>
            <a:ext cx="3112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Haar</a:t>
            </a:r>
            <a:r>
              <a:rPr lang="en-US" altLang="ko-KR" dirty="0"/>
              <a:t>-like wavelet </a:t>
            </a:r>
            <a:r>
              <a:rPr lang="ko-KR" altLang="en-US" dirty="0"/>
              <a:t>특징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09A05C-8E10-4BFA-84FA-5674AF534E7B}"/>
              </a:ext>
            </a:extLst>
          </p:cNvPr>
          <p:cNvSpPr txBox="1"/>
          <p:nvPr/>
        </p:nvSpPr>
        <p:spPr>
          <a:xfrm>
            <a:off x="2121876" y="3561292"/>
            <a:ext cx="5680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얼굴의 특징 분포에 따라서 명암이 결정될 것이라는 가정 이용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297698-9669-4810-A739-7265541F4389}"/>
              </a:ext>
            </a:extLst>
          </p:cNvPr>
          <p:cNvSpPr txBox="1"/>
          <p:nvPr/>
        </p:nvSpPr>
        <p:spPr>
          <a:xfrm>
            <a:off x="1031995" y="4695132"/>
            <a:ext cx="6626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얼굴 영역의 검출을 위해서 </a:t>
            </a:r>
            <a:r>
              <a:rPr lang="en-US" altLang="ko-KR" dirty="0" err="1"/>
              <a:t>YCbCr</a:t>
            </a:r>
            <a:r>
              <a:rPr lang="en-US" altLang="ko-KR" dirty="0"/>
              <a:t> </a:t>
            </a:r>
            <a:r>
              <a:rPr lang="ko-KR" altLang="en-US" dirty="0"/>
              <a:t>색 영역에서 피부색만 남기고 모두 제거 진행 후 처리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5843B2-30D9-46E5-8C5D-4730AFBC4843}"/>
              </a:ext>
            </a:extLst>
          </p:cNvPr>
          <p:cNvSpPr txBox="1"/>
          <p:nvPr/>
        </p:nvSpPr>
        <p:spPr>
          <a:xfrm>
            <a:off x="1031995" y="5709178"/>
            <a:ext cx="6626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스트레오</a:t>
            </a:r>
            <a:r>
              <a:rPr lang="ko-KR" altLang="en-US" dirty="0"/>
              <a:t> 카메라를 사용할 경우</a:t>
            </a:r>
            <a:r>
              <a:rPr lang="en-US" altLang="ko-KR" dirty="0"/>
              <a:t>, </a:t>
            </a:r>
            <a:r>
              <a:rPr lang="ko-KR" altLang="en-US" dirty="0"/>
              <a:t>후보자의 위치 및 거리 계산 가능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D1AE563-DAFD-4935-BFBE-5C05BDC49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7639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2F7EB6-A010-4604-8B27-FADBF8EB4DAB}"/>
              </a:ext>
            </a:extLst>
          </p:cNvPr>
          <p:cNvSpPr txBox="1"/>
          <p:nvPr/>
        </p:nvSpPr>
        <p:spPr>
          <a:xfrm>
            <a:off x="685799" y="742950"/>
            <a:ext cx="740092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2. </a:t>
            </a:r>
            <a:r>
              <a:rPr lang="ko-KR" altLang="en-US" sz="2300" dirty="0"/>
              <a:t>화자의 음성 정보를 바탕으로 음원 방향 추정</a:t>
            </a:r>
            <a:endParaRPr lang="en-US" altLang="ko-KR" sz="23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AFB850-ED8D-4650-B354-779455602532}"/>
              </a:ext>
            </a:extLst>
          </p:cNvPr>
          <p:cNvSpPr txBox="1"/>
          <p:nvPr/>
        </p:nvSpPr>
        <p:spPr>
          <a:xfrm>
            <a:off x="764931" y="1543050"/>
            <a:ext cx="2902194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9C058C-994F-4195-9299-F7F8BDE29199}"/>
              </a:ext>
            </a:extLst>
          </p:cNvPr>
          <p:cNvSpPr txBox="1"/>
          <p:nvPr/>
        </p:nvSpPr>
        <p:spPr>
          <a:xfrm>
            <a:off x="1688124" y="2815526"/>
            <a:ext cx="5838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두 신호의 상관성을 이용</a:t>
            </a:r>
            <a:endParaRPr lang="en-US" altLang="ko-KR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836EBD-CAE3-49B3-861B-18417C01DA26}"/>
              </a:ext>
            </a:extLst>
          </p:cNvPr>
          <p:cNvSpPr txBox="1"/>
          <p:nvPr/>
        </p:nvSpPr>
        <p:spPr>
          <a:xfrm>
            <a:off x="1031995" y="1534121"/>
            <a:ext cx="865712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00" dirty="0"/>
              <a:t>TDOA(Time Delay of Arrival, </a:t>
            </a:r>
            <a:r>
              <a:rPr lang="ko-KR" altLang="en-US" sz="2100" dirty="0"/>
              <a:t>도착 시간 지연</a:t>
            </a:r>
            <a:r>
              <a:rPr lang="en-US" altLang="ko-KR" sz="2100" dirty="0"/>
              <a:t>) </a:t>
            </a:r>
            <a:r>
              <a:rPr lang="ko-KR" altLang="en-US" sz="2100" dirty="0"/>
              <a:t>이용한 음원 위치 추정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3D90A2-88FD-431E-8A60-89C7FCB5B912}"/>
              </a:ext>
            </a:extLst>
          </p:cNvPr>
          <p:cNvSpPr txBox="1"/>
          <p:nvPr/>
        </p:nvSpPr>
        <p:spPr>
          <a:xfrm>
            <a:off x="1031994" y="2253953"/>
            <a:ext cx="8490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100" dirty="0"/>
              <a:t>TDOA </a:t>
            </a:r>
            <a:r>
              <a:rPr lang="ko-KR" altLang="en-US" sz="2100" dirty="0"/>
              <a:t>측정을 위한 </a:t>
            </a:r>
            <a:r>
              <a:rPr lang="en-US" altLang="ko-KR" sz="2100" dirty="0"/>
              <a:t>CPSP(Cross Power Spectrum Phase) </a:t>
            </a:r>
            <a:r>
              <a:rPr lang="ko-KR" altLang="en-US" sz="2100" dirty="0"/>
              <a:t>활용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A38F2-74D0-4020-80DF-2918AAB0AF35}"/>
              </a:ext>
            </a:extLst>
          </p:cNvPr>
          <p:cNvSpPr txBox="1"/>
          <p:nvPr/>
        </p:nvSpPr>
        <p:spPr>
          <a:xfrm>
            <a:off x="1031993" y="3673143"/>
            <a:ext cx="84900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100" dirty="0"/>
              <a:t>측정된</a:t>
            </a:r>
            <a:r>
              <a:rPr lang="en-US" altLang="ko-KR" sz="2100" dirty="0"/>
              <a:t> TDOA</a:t>
            </a:r>
            <a:r>
              <a:rPr lang="ko-KR" altLang="en-US" sz="2100" dirty="0"/>
              <a:t>를</a:t>
            </a:r>
            <a:r>
              <a:rPr lang="en-US" altLang="ko-KR" sz="2100" dirty="0"/>
              <a:t> </a:t>
            </a:r>
            <a:r>
              <a:rPr lang="ko-KR" altLang="en-US" sz="2100" dirty="0"/>
              <a:t>활용하여</a:t>
            </a:r>
            <a:r>
              <a:rPr lang="en-US" altLang="ko-KR" sz="2100" dirty="0"/>
              <a:t> </a:t>
            </a:r>
            <a:r>
              <a:rPr lang="ko-KR" altLang="en-US" sz="2100" dirty="0"/>
              <a:t>음원의 방향각 획득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BED8D-E55D-425E-B1A3-331E0DF87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137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3AFB850-ED8D-4650-B354-779455602532}"/>
              </a:ext>
            </a:extLst>
          </p:cNvPr>
          <p:cNvSpPr txBox="1"/>
          <p:nvPr/>
        </p:nvSpPr>
        <p:spPr>
          <a:xfrm>
            <a:off x="764931" y="1543050"/>
            <a:ext cx="2902194" cy="400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A3A614-85A4-49F3-BA24-C87B13545BCC}"/>
              </a:ext>
            </a:extLst>
          </p:cNvPr>
          <p:cNvSpPr txBox="1"/>
          <p:nvPr/>
        </p:nvSpPr>
        <p:spPr>
          <a:xfrm>
            <a:off x="685799" y="742950"/>
            <a:ext cx="740092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300" dirty="0"/>
              <a:t>3. </a:t>
            </a:r>
            <a:r>
              <a:rPr lang="ko-KR" altLang="en-US" sz="2300" dirty="0"/>
              <a:t>두 정보의 비교 분석을 통한 현재 </a:t>
            </a:r>
            <a:r>
              <a:rPr lang="ko-KR" altLang="en-US" sz="2300" dirty="0" err="1"/>
              <a:t>발화자</a:t>
            </a:r>
            <a:r>
              <a:rPr lang="ko-KR" altLang="en-US" sz="2300" dirty="0"/>
              <a:t> 검출</a:t>
            </a:r>
            <a:endParaRPr lang="en-US" altLang="ko-KR" sz="23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7D8DEA6-C57A-4E2A-940A-030A2FAFA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168" y="1543050"/>
            <a:ext cx="3960110" cy="29831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87BA55-3E86-48B9-B119-525ECB4C8A2D}"/>
              </a:ext>
            </a:extLst>
          </p:cNvPr>
          <p:cNvSpPr txBox="1"/>
          <p:nvPr/>
        </p:nvSpPr>
        <p:spPr>
          <a:xfrm>
            <a:off x="4791807" y="1743075"/>
            <a:ext cx="5882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실제 실험은 왼쪽과 같은 환경에서 화자와 카메라와의</a:t>
            </a:r>
            <a:r>
              <a:rPr lang="en-US" altLang="ko-KR" dirty="0"/>
              <a:t> </a:t>
            </a:r>
            <a:r>
              <a:rPr lang="ko-KR" altLang="en-US" dirty="0"/>
              <a:t>거리</a:t>
            </a:r>
            <a:r>
              <a:rPr lang="en-US" altLang="ko-KR" dirty="0"/>
              <a:t>(1m, 2m) </a:t>
            </a:r>
            <a:r>
              <a:rPr lang="ko-KR" altLang="en-US" dirty="0"/>
              <a:t>및 각도</a:t>
            </a:r>
            <a:r>
              <a:rPr lang="en-US" altLang="ko-KR" dirty="0"/>
              <a:t>(30, 60, 90 </a:t>
            </a:r>
            <a:r>
              <a:rPr lang="ko-KR" altLang="en-US" dirty="0"/>
              <a:t>도</a:t>
            </a:r>
            <a:r>
              <a:rPr lang="en-US" altLang="ko-KR" dirty="0"/>
              <a:t>)</a:t>
            </a:r>
            <a:r>
              <a:rPr lang="ko-KR" altLang="en-US" dirty="0"/>
              <a:t> 변화를 주며 진행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9EF5E2-B78B-492F-902B-A8D1CF36F075}"/>
              </a:ext>
            </a:extLst>
          </p:cNvPr>
          <p:cNvSpPr txBox="1"/>
          <p:nvPr/>
        </p:nvSpPr>
        <p:spPr>
          <a:xfrm>
            <a:off x="4914900" y="2936631"/>
            <a:ext cx="5758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논문의 얼굴 검출 방법을 이용했을 때</a:t>
            </a:r>
            <a:r>
              <a:rPr lang="en-US" altLang="ko-KR" dirty="0"/>
              <a:t>, 95% </a:t>
            </a:r>
            <a:r>
              <a:rPr lang="ko-KR" altLang="en-US" dirty="0"/>
              <a:t>이상의 검출율을 보임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852E22-43D1-446C-A76F-1A5B8610B3D3}"/>
              </a:ext>
            </a:extLst>
          </p:cNvPr>
          <p:cNvSpPr txBox="1"/>
          <p:nvPr/>
        </p:nvSpPr>
        <p:spPr>
          <a:xfrm>
            <a:off x="4914899" y="3959421"/>
            <a:ext cx="575896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정확한 화자 인식 성공율은 </a:t>
            </a:r>
            <a:r>
              <a:rPr lang="en-US" altLang="ko-KR" dirty="0"/>
              <a:t>1m </a:t>
            </a:r>
            <a:r>
              <a:rPr lang="ko-KR" altLang="en-US" dirty="0"/>
              <a:t>거리에서 </a:t>
            </a:r>
            <a:r>
              <a:rPr lang="en-US" altLang="ko-KR" dirty="0"/>
              <a:t>86.3%, 2m</a:t>
            </a:r>
            <a:r>
              <a:rPr lang="ko-KR" altLang="en-US" dirty="0"/>
              <a:t> 거리에서 </a:t>
            </a:r>
            <a:r>
              <a:rPr lang="en-US" altLang="ko-KR" dirty="0"/>
              <a:t>80.57%</a:t>
            </a:r>
            <a:r>
              <a:rPr lang="ko-KR" altLang="en-US" dirty="0"/>
              <a:t> 로</a:t>
            </a:r>
            <a:r>
              <a:rPr lang="en-US" altLang="ko-KR" dirty="0"/>
              <a:t>, </a:t>
            </a:r>
            <a:r>
              <a:rPr lang="ko-KR" altLang="en-US" dirty="0"/>
              <a:t>거리가 멀어질 수록 낮아지는 모습을 보임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1DA830-04C9-4794-B959-4BD501D62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14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B97A01-DD24-48EE-8022-8177D71D56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화자 인식 관련</a:t>
            </a:r>
            <a:r>
              <a:rPr lang="en-US" altLang="ko-KR" dirty="0"/>
              <a:t> </a:t>
            </a:r>
            <a:r>
              <a:rPr lang="ko-KR" altLang="en-US" dirty="0"/>
              <a:t>기술 조사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AFF24A-6D54-438E-ADB4-69B13F496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259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2F7EB6-A010-4604-8B27-FADBF8EB4DAB}"/>
              </a:ext>
            </a:extLst>
          </p:cNvPr>
          <p:cNvSpPr txBox="1"/>
          <p:nvPr/>
        </p:nvSpPr>
        <p:spPr>
          <a:xfrm>
            <a:off x="685799" y="742950"/>
            <a:ext cx="7400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화자 인식이란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0573C-B0DD-4B00-94F8-B425801C3ADA}"/>
              </a:ext>
            </a:extLst>
          </p:cNvPr>
          <p:cNvSpPr txBox="1"/>
          <p:nvPr/>
        </p:nvSpPr>
        <p:spPr>
          <a:xfrm>
            <a:off x="685798" y="1505692"/>
            <a:ext cx="10779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음성 입력 신호에서 특징을 추출하여</a:t>
            </a:r>
            <a:r>
              <a:rPr lang="en-US" altLang="ko-KR" sz="2400" dirty="0"/>
              <a:t>, </a:t>
            </a:r>
            <a:r>
              <a:rPr lang="ko-KR" altLang="en-US" sz="2400" dirty="0"/>
              <a:t>미리 저장된 </a:t>
            </a:r>
            <a:r>
              <a:rPr lang="ko-KR" altLang="en-US" sz="2400" u="sng" dirty="0"/>
              <a:t>데이터베이스와 비교</a:t>
            </a:r>
            <a:r>
              <a:rPr lang="ko-KR" altLang="en-US" sz="2400" dirty="0"/>
              <a:t>를 통해 발화자의 신원을 확인하는 것</a:t>
            </a:r>
            <a:endParaRPr lang="en-US" altLang="ko-KR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5477A0-0F1D-4F1A-A898-F7EBF2C62C19}"/>
              </a:ext>
            </a:extLst>
          </p:cNvPr>
          <p:cNvSpPr txBox="1"/>
          <p:nvPr/>
        </p:nvSpPr>
        <p:spPr>
          <a:xfrm>
            <a:off x="685798" y="2818332"/>
            <a:ext cx="7400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화자 인식과 음성 인식 차이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4634DE3-DD89-4880-9A0A-64615899C87D}"/>
              </a:ext>
            </a:extLst>
          </p:cNvPr>
          <p:cNvGrpSpPr/>
          <p:nvPr/>
        </p:nvGrpSpPr>
        <p:grpSpPr>
          <a:xfrm>
            <a:off x="685798" y="3718683"/>
            <a:ext cx="9029703" cy="2726420"/>
            <a:chOff x="888582" y="3859856"/>
            <a:chExt cx="10274561" cy="3299243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A23D2EC-3996-446B-9FD7-C0E64F37706F}"/>
                </a:ext>
              </a:extLst>
            </p:cNvPr>
            <p:cNvSpPr txBox="1"/>
            <p:nvPr/>
          </p:nvSpPr>
          <p:spPr>
            <a:xfrm>
              <a:off x="2189281" y="4149971"/>
              <a:ext cx="1200412" cy="558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/>
                <a:t>안녕</a:t>
              </a:r>
              <a:r>
                <a:rPr lang="en-US" altLang="ko-KR" sz="2400" dirty="0"/>
                <a:t>?</a:t>
              </a:r>
              <a:endParaRPr lang="ko-KR" altLang="en-US" sz="2400" dirty="0"/>
            </a:p>
          </p:txBody>
        </p:sp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E635F6EA-3D9F-487B-A202-A5C0FA79590F}"/>
                </a:ext>
              </a:extLst>
            </p:cNvPr>
            <p:cNvSpPr/>
            <p:nvPr/>
          </p:nvSpPr>
          <p:spPr>
            <a:xfrm>
              <a:off x="4551356" y="4086642"/>
              <a:ext cx="1529861" cy="712177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음성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인식</a:t>
              </a:r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2AFED790-4329-4228-A5ED-49542DFC2608}"/>
                </a:ext>
              </a:extLst>
            </p:cNvPr>
            <p:cNvCxnSpPr>
              <a:cxnSpLocks/>
              <a:stCxn id="26" idx="3"/>
              <a:endCxn id="27" idx="2"/>
            </p:cNvCxnSpPr>
            <p:nvPr/>
          </p:nvCxnSpPr>
          <p:spPr>
            <a:xfrm>
              <a:off x="3389693" y="4429302"/>
              <a:ext cx="1161663" cy="1342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81BF99C-21B7-458B-BD2E-9E5AAE32E405}"/>
                </a:ext>
              </a:extLst>
            </p:cNvPr>
            <p:cNvCxnSpPr>
              <a:cxnSpLocks/>
              <a:stCxn id="27" idx="6"/>
            </p:cNvCxnSpPr>
            <p:nvPr/>
          </p:nvCxnSpPr>
          <p:spPr>
            <a:xfrm>
              <a:off x="6081217" y="4442731"/>
              <a:ext cx="13276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6EFB0D6-7E92-419E-B0F2-669B3DE9303A}"/>
                </a:ext>
              </a:extLst>
            </p:cNvPr>
            <p:cNvSpPr txBox="1"/>
            <p:nvPr/>
          </p:nvSpPr>
          <p:spPr>
            <a:xfrm>
              <a:off x="7408857" y="4152214"/>
              <a:ext cx="2743199" cy="461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/>
                <a:t>말한 내용</a:t>
              </a:r>
              <a:r>
                <a:rPr lang="en-US" altLang="ko-KR" sz="2400" dirty="0"/>
                <a:t>: </a:t>
              </a:r>
              <a:r>
                <a:rPr lang="ko-KR" altLang="en-US" sz="2400" dirty="0"/>
                <a:t>안녕</a:t>
              </a:r>
              <a:r>
                <a:rPr lang="en-US" altLang="ko-KR" sz="2400" dirty="0"/>
                <a:t>?</a:t>
              </a:r>
              <a:endParaRPr lang="ko-KR" altLang="en-US" sz="2400" dirty="0"/>
            </a:p>
          </p:txBody>
        </p:sp>
        <p:pic>
          <p:nvPicPr>
            <p:cNvPr id="31" name="그래픽 30">
              <a:extLst>
                <a:ext uri="{FF2B5EF4-FFF2-40B4-BE49-F238E27FC236}">
                  <a16:creationId xmlns:a16="http://schemas.microsoft.com/office/drawing/2014/main" id="{BC399C5B-0AB9-46AD-891C-D733F47F2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888582" y="3859856"/>
              <a:ext cx="1300700" cy="132239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9C37713-76D3-4FED-A0FC-9334A3A6E561}"/>
                </a:ext>
              </a:extLst>
            </p:cNvPr>
            <p:cNvSpPr txBox="1"/>
            <p:nvPr/>
          </p:nvSpPr>
          <p:spPr>
            <a:xfrm>
              <a:off x="1083786" y="5324811"/>
              <a:ext cx="11054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dirty="0"/>
                <a:t>홍길동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B743C64-7ED9-4B58-996D-B1A61084F798}"/>
                </a:ext>
              </a:extLst>
            </p:cNvPr>
            <p:cNvSpPr txBox="1"/>
            <p:nvPr/>
          </p:nvSpPr>
          <p:spPr>
            <a:xfrm>
              <a:off x="2189282" y="6342186"/>
              <a:ext cx="1200411" cy="558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/>
                <a:t>안녕</a:t>
              </a:r>
              <a:r>
                <a:rPr lang="en-US" altLang="ko-KR" sz="2400" dirty="0"/>
                <a:t>?</a:t>
              </a:r>
              <a:endParaRPr lang="ko-KR" altLang="en-US" sz="2400" dirty="0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BA7E0134-B46B-4E18-BB1C-6BE6E1C0E6D7}"/>
                </a:ext>
              </a:extLst>
            </p:cNvPr>
            <p:cNvSpPr/>
            <p:nvPr/>
          </p:nvSpPr>
          <p:spPr>
            <a:xfrm>
              <a:off x="4551356" y="6280764"/>
              <a:ext cx="1529861" cy="712177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화자</a:t>
              </a:r>
              <a:endParaRPr lang="en-US" altLang="ko-KR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인식</a:t>
              </a:r>
            </a:p>
          </p:txBody>
        </p: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8461E59C-72E6-42C2-88A8-74FB6ED7D0A0}"/>
                </a:ext>
              </a:extLst>
            </p:cNvPr>
            <p:cNvCxnSpPr>
              <a:cxnSpLocks/>
              <a:stCxn id="33" idx="3"/>
              <a:endCxn id="34" idx="2"/>
            </p:cNvCxnSpPr>
            <p:nvPr/>
          </p:nvCxnSpPr>
          <p:spPr>
            <a:xfrm>
              <a:off x="3389693" y="6621517"/>
              <a:ext cx="1161663" cy="153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3957CEFB-07C2-467F-9B88-EE4109AE0D11}"/>
                </a:ext>
              </a:extLst>
            </p:cNvPr>
            <p:cNvCxnSpPr>
              <a:cxnSpLocks/>
              <a:stCxn id="34" idx="6"/>
            </p:cNvCxnSpPr>
            <p:nvPr/>
          </p:nvCxnSpPr>
          <p:spPr>
            <a:xfrm>
              <a:off x="6081217" y="6636853"/>
              <a:ext cx="132764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2E3710A9-5F74-40AC-99C4-0BEAFABE54BC}"/>
                </a:ext>
              </a:extLst>
            </p:cNvPr>
            <p:cNvSpPr txBox="1"/>
            <p:nvPr/>
          </p:nvSpPr>
          <p:spPr>
            <a:xfrm>
              <a:off x="7408857" y="6357521"/>
              <a:ext cx="3754286" cy="5586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2400" dirty="0"/>
                <a:t>말한 사람</a:t>
              </a:r>
              <a:r>
                <a:rPr lang="en-US" altLang="ko-KR" sz="2400" dirty="0"/>
                <a:t>: </a:t>
              </a:r>
              <a:r>
                <a:rPr lang="ko-KR" altLang="en-US" sz="2400" dirty="0"/>
                <a:t>홍길동</a:t>
              </a:r>
            </a:p>
          </p:txBody>
        </p:sp>
        <p:pic>
          <p:nvPicPr>
            <p:cNvPr id="38" name="그래픽 37">
              <a:extLst>
                <a:ext uri="{FF2B5EF4-FFF2-40B4-BE49-F238E27FC236}">
                  <a16:creationId xmlns:a16="http://schemas.microsoft.com/office/drawing/2014/main" id="{90252E83-1305-4C50-83C6-76DA54937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>
              <a:off x="888582" y="5836708"/>
              <a:ext cx="1300700" cy="1322391"/>
            </a:xfrm>
            <a:prstGeom prst="rect">
              <a:avLst/>
            </a:prstGeom>
          </p:spPr>
        </p:pic>
      </p:grp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B7E661-EFF2-49B2-A282-B423E148E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138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2F7EB6-A010-4604-8B27-FADBF8EB4DAB}"/>
              </a:ext>
            </a:extLst>
          </p:cNvPr>
          <p:cNvSpPr txBox="1"/>
          <p:nvPr/>
        </p:nvSpPr>
        <p:spPr>
          <a:xfrm>
            <a:off x="685799" y="742950"/>
            <a:ext cx="7400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기술 구분 </a:t>
            </a:r>
            <a:r>
              <a:rPr lang="en-US" altLang="ko-KR" sz="3000" dirty="0"/>
              <a:t>- </a:t>
            </a:r>
            <a:r>
              <a:rPr lang="ko-KR" altLang="en-US" sz="3000" dirty="0"/>
              <a:t>문장 독립 방식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0573C-B0DD-4B00-94F8-B425801C3ADA}"/>
              </a:ext>
            </a:extLst>
          </p:cNvPr>
          <p:cNvSpPr txBox="1"/>
          <p:nvPr/>
        </p:nvSpPr>
        <p:spPr>
          <a:xfrm>
            <a:off x="685798" y="1505692"/>
            <a:ext cx="10779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발성하는 음성 형식 혹은 종류에 제한이 없음</a:t>
            </a:r>
            <a:r>
              <a:rPr lang="en-US" altLang="ko-KR" sz="2400" dirty="0"/>
              <a:t>. </a:t>
            </a:r>
            <a:r>
              <a:rPr lang="ko-KR" altLang="en-US" sz="2400" dirty="0"/>
              <a:t>형식이 정해지지 않은 문장을 발성하여도 화자 인식 가능</a:t>
            </a:r>
            <a:endParaRPr lang="en-US" altLang="ko-KR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45B157-11AD-4B36-98BB-4130C933813B}"/>
              </a:ext>
            </a:extLst>
          </p:cNvPr>
          <p:cNvSpPr txBox="1"/>
          <p:nvPr/>
        </p:nvSpPr>
        <p:spPr>
          <a:xfrm>
            <a:off x="685799" y="2666258"/>
            <a:ext cx="7400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기술 구분 </a:t>
            </a:r>
            <a:r>
              <a:rPr lang="en-US" altLang="ko-KR" sz="3000" dirty="0"/>
              <a:t>- </a:t>
            </a:r>
            <a:r>
              <a:rPr lang="ko-KR" altLang="en-US" sz="3000" dirty="0"/>
              <a:t>문장 종속 방식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7BC83C-FAD7-4E5E-9C02-C864DCD34E1F}"/>
              </a:ext>
            </a:extLst>
          </p:cNvPr>
          <p:cNvSpPr txBox="1"/>
          <p:nvPr/>
        </p:nvSpPr>
        <p:spPr>
          <a:xfrm>
            <a:off x="685798" y="3429000"/>
            <a:ext cx="107793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사전에 정해진 형식에 맞는 음성 혹은 문장에 한해서 화자 인식 가능</a:t>
            </a:r>
            <a:endParaRPr lang="en-US" altLang="ko-KR" sz="2400" dirty="0"/>
          </a:p>
          <a:p>
            <a:r>
              <a:rPr lang="ko-KR" altLang="en-US" sz="2400" dirty="0"/>
              <a:t>편의성은 다소 떨어질 수 있지만</a:t>
            </a:r>
            <a:r>
              <a:rPr lang="en-US" altLang="ko-KR" sz="2400" dirty="0"/>
              <a:t>, </a:t>
            </a:r>
            <a:r>
              <a:rPr lang="ko-KR" altLang="en-US" sz="2400" dirty="0"/>
              <a:t>발성 음성에 대한 정보를 사전에 보유하고 있기 때문에 개발 난이도가 비교적 낮고</a:t>
            </a:r>
            <a:r>
              <a:rPr lang="en-US" altLang="ko-KR" sz="2400" dirty="0"/>
              <a:t>, </a:t>
            </a:r>
            <a:r>
              <a:rPr lang="ko-KR" altLang="en-US" sz="2400" dirty="0"/>
              <a:t>인식율은 높음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9849B0-DEFD-47A4-AC4F-257E824558E7}"/>
              </a:ext>
            </a:extLst>
          </p:cNvPr>
          <p:cNvSpPr txBox="1"/>
          <p:nvPr/>
        </p:nvSpPr>
        <p:spPr>
          <a:xfrm>
            <a:off x="726832" y="4835197"/>
            <a:ext cx="7400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000" dirty="0"/>
              <a:t>유사도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84D7E0-656C-47CE-84A1-9CBB4C55CE42}"/>
              </a:ext>
            </a:extLst>
          </p:cNvPr>
          <p:cNvSpPr txBox="1"/>
          <p:nvPr/>
        </p:nvSpPr>
        <p:spPr>
          <a:xfrm>
            <a:off x="726831" y="5597939"/>
            <a:ext cx="10779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음성 신호의 특징은</a:t>
            </a:r>
            <a:r>
              <a:rPr lang="en-US" altLang="ko-KR" sz="2400" dirty="0"/>
              <a:t>, Imposter </a:t>
            </a:r>
            <a:r>
              <a:rPr lang="ko-KR" altLang="en-US" sz="2400" dirty="0"/>
              <a:t>모델과 </a:t>
            </a:r>
            <a:r>
              <a:rPr lang="en-US" altLang="ko-KR" sz="2400" dirty="0"/>
              <a:t>Speaker </a:t>
            </a:r>
            <a:r>
              <a:rPr lang="ko-KR" altLang="en-US" sz="2400" dirty="0"/>
              <a:t>모델 각각의 유사도의 비율을 계산하는데 이용되고</a:t>
            </a:r>
            <a:r>
              <a:rPr lang="en-US" altLang="ko-KR" sz="2400" dirty="0"/>
              <a:t> </a:t>
            </a:r>
            <a:r>
              <a:rPr lang="ko-KR" altLang="en-US" sz="2400" dirty="0"/>
              <a:t>이를 이용하여 화자 여부가 결정됨</a:t>
            </a:r>
            <a:endParaRPr lang="en-US" altLang="ko-KR" sz="24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C6C5A37-990E-43BA-A727-2583F2A5C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10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2F7EB6-A010-4604-8B27-FADBF8EB4DAB}"/>
              </a:ext>
            </a:extLst>
          </p:cNvPr>
          <p:cNvSpPr txBox="1"/>
          <p:nvPr/>
        </p:nvSpPr>
        <p:spPr>
          <a:xfrm>
            <a:off x="685799" y="742950"/>
            <a:ext cx="74009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MFCC(Mel</a:t>
            </a:r>
            <a:r>
              <a:rPr lang="ko-KR" altLang="en-US" sz="3000" dirty="0"/>
              <a:t> </a:t>
            </a:r>
            <a:r>
              <a:rPr lang="en-US" altLang="ko-KR" sz="3000" dirty="0"/>
              <a:t>Frequency</a:t>
            </a:r>
            <a:r>
              <a:rPr lang="ko-KR" altLang="en-US" sz="3000" dirty="0"/>
              <a:t> </a:t>
            </a:r>
            <a:r>
              <a:rPr lang="en-US" altLang="ko-KR" sz="3000" dirty="0"/>
              <a:t>Cepstral</a:t>
            </a:r>
            <a:r>
              <a:rPr lang="ko-KR" altLang="en-US" sz="3000" dirty="0"/>
              <a:t> </a:t>
            </a:r>
            <a:r>
              <a:rPr lang="en-US" altLang="ko-KR" sz="3000" dirty="0"/>
              <a:t>Coefficient)</a:t>
            </a:r>
            <a:endParaRPr lang="ko-KR" altLang="en-US" sz="3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E0573C-B0DD-4B00-94F8-B425801C3ADA}"/>
              </a:ext>
            </a:extLst>
          </p:cNvPr>
          <p:cNvSpPr txBox="1"/>
          <p:nvPr/>
        </p:nvSpPr>
        <p:spPr>
          <a:xfrm>
            <a:off x="685798" y="1505692"/>
            <a:ext cx="10779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시간 도메인이 음성 신호를 작은 크기 프레임으로 구분</a:t>
            </a:r>
            <a:endParaRPr lang="en-US" altLang="ko-KR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0299DC-19EB-4165-AE66-460879C084C6}"/>
              </a:ext>
            </a:extLst>
          </p:cNvPr>
          <p:cNvSpPr txBox="1"/>
          <p:nvPr/>
        </p:nvSpPr>
        <p:spPr>
          <a:xfrm>
            <a:off x="706314" y="2176101"/>
            <a:ext cx="10779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주기도 평가 </a:t>
            </a:r>
            <a:r>
              <a:rPr lang="en-US" altLang="ko-KR" sz="2400" dirty="0"/>
              <a:t>– </a:t>
            </a:r>
            <a:r>
              <a:rPr lang="ko-KR" altLang="en-US" sz="2400" dirty="0"/>
              <a:t>프레임 별 주파수</a:t>
            </a:r>
            <a:r>
              <a:rPr lang="en-US" altLang="ko-KR" sz="2400" dirty="0"/>
              <a:t>(power spectrum) </a:t>
            </a:r>
            <a:r>
              <a:rPr lang="ko-KR" altLang="en-US" sz="2400" dirty="0"/>
              <a:t>계산 인간의 청각이 음성의 주파수에 기반하는 특성 이용</a:t>
            </a:r>
            <a:endParaRPr lang="en-US" altLang="ko-KR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BD025-0BDC-4DE0-887F-1E8FC388B478}"/>
              </a:ext>
            </a:extLst>
          </p:cNvPr>
          <p:cNvSpPr txBox="1"/>
          <p:nvPr/>
        </p:nvSpPr>
        <p:spPr>
          <a:xfrm>
            <a:off x="706313" y="3215842"/>
            <a:ext cx="10779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Power spectrum</a:t>
            </a:r>
            <a:r>
              <a:rPr lang="ko-KR" altLang="en-US" sz="2400" dirty="0"/>
              <a:t>에 </a:t>
            </a:r>
            <a:r>
              <a:rPr lang="en-US" altLang="ko-KR" sz="2400" dirty="0"/>
              <a:t>Mel Filter Bank </a:t>
            </a:r>
            <a:r>
              <a:rPr lang="ko-KR" altLang="en-US" sz="2400" dirty="0"/>
              <a:t>적용하여 필터 별 에너지 계산 </a:t>
            </a:r>
            <a:r>
              <a:rPr lang="en-US" altLang="ko-KR" sz="2400" dirty="0"/>
              <a:t>– Mel Filter</a:t>
            </a:r>
            <a:r>
              <a:rPr lang="ko-KR" altLang="en-US" sz="2400" dirty="0"/>
              <a:t>를 이용하면 </a:t>
            </a:r>
            <a:r>
              <a:rPr lang="en-US" altLang="ko-KR" sz="2400" dirty="0"/>
              <a:t>0Hz </a:t>
            </a:r>
            <a:r>
              <a:rPr lang="ko-KR" altLang="en-US" sz="2400" dirty="0"/>
              <a:t>부근의 저주파와 관련된 에너지를 추출할 수 있음</a:t>
            </a:r>
            <a:endParaRPr lang="en-US" altLang="ko-KR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2B3EA2-D479-4CD2-B357-C18CDCD22E68}"/>
              </a:ext>
            </a:extLst>
          </p:cNvPr>
          <p:cNvSpPr txBox="1"/>
          <p:nvPr/>
        </p:nvSpPr>
        <p:spPr>
          <a:xfrm>
            <a:off x="706313" y="4255583"/>
            <a:ext cx="107793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에너지에 </a:t>
            </a:r>
            <a:r>
              <a:rPr lang="en-US" altLang="ko-KR" sz="2400" dirty="0"/>
              <a:t>log</a:t>
            </a:r>
            <a:r>
              <a:rPr lang="ko-KR" altLang="en-US" sz="2400" dirty="0"/>
              <a:t>를 취하여</a:t>
            </a:r>
            <a:r>
              <a:rPr lang="en-US" altLang="ko-KR" sz="2400" dirty="0"/>
              <a:t>, </a:t>
            </a:r>
            <a:r>
              <a:rPr lang="ko-KR" altLang="en-US" sz="2400" dirty="0"/>
              <a:t>압축 연산을 진행하면 인간의 청력 환경과 유사하게 음성 특징 생성 가능</a:t>
            </a:r>
            <a:endParaRPr lang="en-US" altLang="ko-KR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B60C33-A910-49D5-9D67-8B521AA5BAF2}"/>
              </a:ext>
            </a:extLst>
          </p:cNvPr>
          <p:cNvSpPr txBox="1"/>
          <p:nvPr/>
        </p:nvSpPr>
        <p:spPr>
          <a:xfrm>
            <a:off x="685797" y="5295324"/>
            <a:ext cx="10779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이어서 </a:t>
            </a:r>
            <a:r>
              <a:rPr lang="en-US" altLang="ko-KR" sz="2400" dirty="0"/>
              <a:t>DCT(</a:t>
            </a:r>
            <a:r>
              <a:rPr lang="ko-KR" altLang="en-US" sz="2400" dirty="0"/>
              <a:t>이산 코사인 변환</a:t>
            </a:r>
            <a:r>
              <a:rPr lang="en-US" altLang="ko-KR" sz="2400" dirty="0"/>
              <a:t>)</a:t>
            </a:r>
            <a:r>
              <a:rPr lang="ko-KR" altLang="en-US" sz="2400" dirty="0"/>
              <a:t>을 계산하여 각</a:t>
            </a:r>
            <a:r>
              <a:rPr lang="en-US" altLang="ko-KR" sz="2400" dirty="0"/>
              <a:t> filter </a:t>
            </a:r>
            <a:r>
              <a:rPr lang="ko-KR" altLang="en-US" sz="2400" dirty="0"/>
              <a:t>별 상관 관계를 제거함</a:t>
            </a:r>
            <a:endParaRPr lang="en-US" altLang="ko-KR" sz="2400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5187EA-57E5-4ABD-8BA4-72F0C46DD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53371" y="6310310"/>
            <a:ext cx="2743200" cy="365125"/>
          </a:xfrm>
        </p:spPr>
        <p:txBody>
          <a:bodyPr/>
          <a:lstStyle/>
          <a:p>
            <a:fld id="{5D230D1E-D546-41FC-A086-E911DB436A87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4414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174DB5-39C7-4572-AD1B-24DEAAC8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270" y="2633198"/>
            <a:ext cx="10515600" cy="1325563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B2781B-A9F0-40BE-AB69-8EED1730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230D1E-D546-41FC-A086-E911DB436A87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040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1283</Words>
  <Application>Microsoft Office PowerPoint</Application>
  <PresentationFormat>와이드스크린</PresentationFormat>
  <Paragraphs>169</Paragraphs>
  <Slides>28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2" baseType="lpstr">
      <vt:lpstr>Apple SD Gothic Neo</vt:lpstr>
      <vt:lpstr>맑은 고딕</vt:lpstr>
      <vt:lpstr>Arial</vt:lpstr>
      <vt:lpstr>Office 테마</vt:lpstr>
      <vt:lpstr>360 영상으로부터의 얼굴 인식 및 화자 추적</vt:lpstr>
      <vt:lpstr>목차</vt:lpstr>
      <vt:lpstr>1. 복수의 얼굴 검출</vt:lpstr>
      <vt:lpstr>딥러닝 기반 얼굴 인식 과정</vt:lpstr>
      <vt:lpstr>1. 얼굴 검출</vt:lpstr>
      <vt:lpstr>1. 얼굴 검출(부분 검출을 이용한 방식)</vt:lpstr>
      <vt:lpstr>2. 얼굴 랜드마크 검출 – 방법 1</vt:lpstr>
      <vt:lpstr>2. 얼굴 랜드마크 검출 – 방법 2</vt:lpstr>
      <vt:lpstr>2. 얼굴 랜드마크 검출 – 방법 2</vt:lpstr>
      <vt:lpstr>3. 얼굴 인식(deep face1)</vt:lpstr>
      <vt:lpstr>2. 신원 파악</vt:lpstr>
      <vt:lpstr>복잡한 배경화면에서 얼굴 영역 탐지를 위한 기존 연구 방법</vt:lpstr>
      <vt:lpstr>새로운 신원확인 법</vt:lpstr>
      <vt:lpstr>얼굴 영역의 추출 방법</vt:lpstr>
      <vt:lpstr>얼굴 영역의 추출 방법</vt:lpstr>
      <vt:lpstr>얼굴 영역의 추출 방법</vt:lpstr>
      <vt:lpstr>얼굴 영역의 추출 방법</vt:lpstr>
      <vt:lpstr>얼굴 영역에 대한 검증과 얼굴 구성 요소 영역 추출 방법</vt:lpstr>
      <vt:lpstr>3. 화자 판별</vt:lpstr>
      <vt:lpstr>PowerPoint 프레젠테이션</vt:lpstr>
      <vt:lpstr>PowerPoint 프레젠테이션</vt:lpstr>
      <vt:lpstr>PowerPoint 프레젠테이션</vt:lpstr>
      <vt:lpstr>PowerPoint 프레젠테이션</vt:lpstr>
      <vt:lpstr>화자 인식 관련 기술 조사</vt:lpstr>
      <vt:lpstr>PowerPoint 프레젠테이션</vt:lpstr>
      <vt:lpstr>PowerPoint 프레젠테이션</vt:lpstr>
      <vt:lpstr>PowerPoint 프레젠테이션</vt:lpstr>
      <vt:lpstr>감사합니다.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논문조사</dc:title>
  <dc:creator>김진호</dc:creator>
  <cp:lastModifiedBy>김 유성</cp:lastModifiedBy>
  <cp:revision>19</cp:revision>
  <dcterms:created xsi:type="dcterms:W3CDTF">2021-01-23T15:09:43Z</dcterms:created>
  <dcterms:modified xsi:type="dcterms:W3CDTF">2021-01-25T10:47:11Z</dcterms:modified>
  <cp:version>1000.0000.01</cp:version>
</cp:coreProperties>
</file>